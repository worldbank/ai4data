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session builds one application from a bare model to a verified, evaluated system, in six notebooks. Two audiences: those who will build, and those who commission or evaluate. Questions at the notebook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two audiences so that each knows what to listen for. The question at the right is what the session is for; return to it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through the whole session. The planted problems are why each capability exists; name them now so that participants watch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returns on every section slide with the current stage highlighted. The table is the map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notebook 01: the zero-context answer against the data (wrong and unsourced), then the same question with four briefs, then the missing-year question, then the ambiguous question with and without the instruction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notebook 01 to 02 and 03.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2016 document's header, then the fixed window that cuts mid-sentence against the section chunk, then the poorly prepared index. Notebooks 02 and 03 are demonstrated from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worked example through the pipeline, then the retrieval failure on the latest-figure question, then the three fixes. A faithful answer to the wrong evidence is wrong; the model cannot repair a bad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retrieval table. This separation is the first evaluation idea of the session and returns in notebook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memory answer against the tool, the tool schema, the model calling the tool, and the missing year. Point at claim_id: notebook 06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structured output and the validation error. Name MCP once with the Data360 server; the demonstration at the end shows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photograph. Say that the rows are complementary and that the next slides cover the last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fixed workflow, then the loop on the same question, then the out-of-scope question, the failed call with retry, and the step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commissioning audience: ask which of the two a proposal is,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clean answer with eight verified claims, then the planted answer with a flagged and an unmarked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tables. A table like this is what distinguishes a demonstration from a measured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for the commissioning audience: four questions to ask of any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Point at the tool calls, the citation, and the mark beside the number. Name one limitation and how the suite catches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lessons column. Then return to the question of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in resources/README.md. Close on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A8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rtlCol="0"/>
          <a:lstStyle>
            <a:lvl1pPr indent="0" marL="0">
              <a:buNone/>
              <a:defRPr lang="en-US" sz="1800" dirty="0">
                <a:solidFill>
                  <a:srgbClr val="FFFFFF"/>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rtlCol="0"/>
          <a:lstStyle>
            <a:lvl1pPr algn="l" indent="0" marL="0">
              <a:buNone/>
              <a:defRPr lang="en-US" sz="2800" b="1" dirty="0">
                <a:solidFill>
                  <a:srgbClr val="0B4A8B"/>
                </a:solidFill>
              </a:defRPr>
            </a:lvl1pPr>
          </a:lstStyle>
          <a:p>
            <a:pPr algn="l" indent="0" marL="0">
              <a:buNone/>
            </a:pPr>
            <a:endParaRPr lang="en-US" sz="28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5B6B7C"/>
                </a:solidFill>
              </a:rPr>
              <a:t>AI for Data – Data for AI · Training series · Session 01 · Draft for review</a:t>
            </a:r>
            <a:endParaRPr lang="en-US" sz="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0B4A8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0972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548640" y="3566160"/>
            <a:ext cx="11094415" cy="1463040"/>
          </a:xfrm>
          <a:prstGeom prst="rect">
            <a:avLst/>
          </a:prstGeom>
          <a:noFill/>
          <a:ln/>
        </p:spPr>
        <p:txBody>
          <a:bodyPr wrap="square" rtlCol="0"/>
          <a:lstStyle>
            <a:lvl1pPr indent="0" marL="0">
              <a:buNone/>
              <a:defRPr lang="en-US" sz="1800" dirty="0">
                <a:solidFill>
                  <a:srgbClr val="FFFFFF"/>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rPr>
              <a:t>Building AI applications for research and data</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rgbClr val="FFFFFF"/>
                </a:solidFill>
              </a:rPr>
              <a:t>Training series · Session 01</a:t>
            </a:r>
            <a:endParaRPr lang="en-US" sz="1800" dirty="0"/>
          </a:p>
          <a:p>
            <a:pPr indent="0" marL="0">
              <a:buNone/>
            </a:pPr>
            <a:r>
              <a:rPr lang="en-US" sz="1400" dirty="0">
                <a:solidFill>
                  <a:srgbClr val="FFFFFF"/>
                </a:solidFill>
              </a:rPr>
              <a:t>90 minutes: one application built step by step, in six notebooks</a:t>
            </a:r>
            <a:endParaRPr lang="en-US" sz="1800" dirty="0"/>
          </a:p>
          <a:p>
            <a:pPr indent="0" marL="0">
              <a:buNone/>
            </a:pPr>
            <a:r>
              <a:rPr lang="en-US" sz="1400" dirty="0">
                <a:solidFill>
                  <a:srgbClr val="FFFFFF"/>
                </a:solidFill>
              </a:rPr>
              <a:t>AI for Data – Data for AI · Office of the WBG Chief Statistician and Development Data Group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Objectives and format</a:t>
            </a:r>
            <a:endParaRPr lang="en-US" sz="2800" dirty="0"/>
          </a:p>
        </p:txBody>
      </p:sp>
      <p:sp>
        <p:nvSpPr>
          <p:cNvPr id="3"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500" b="1" dirty="0">
                <a:solidFill>
                  <a:srgbClr val="0B4A8B"/>
                </a:solidFill>
              </a:rPr>
              <a:t>Two audiences</a:t>
            </a:r>
            <a:endParaRPr lang="en-US" sz="1500" dirty="0"/>
          </a:p>
        </p:txBody>
      </p:sp>
      <p:sp>
        <p:nvSpPr>
          <p:cNvPr id="4" name="Text 2"/>
          <p:cNvSpPr txBox="1"/>
          <p:nvPr/>
        </p:nvSpPr>
        <p:spPr>
          <a:xfrm>
            <a:off x="548640" y="1737360"/>
            <a:ext cx="548640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Colleagues who will build AI applications and want each capability added to a working application, with code to rerun</a:t>
            </a:r>
            <a:endParaRPr lang="en-US" sz="1400" dirty="0"/>
          </a:p>
          <a:p>
            <a:pPr marL="177800" indent="-177800">
              <a:spcAft>
                <a:spcPts val="500"/>
              </a:spcAft>
              <a:buSzPct val="100000"/>
              <a:buChar char="•"/>
            </a:pPr>
            <a:r>
              <a:rPr lang="en-US" sz="1400" dirty="0">
                <a:solidFill>
                  <a:srgbClr val="1F2A37"/>
                </a:solidFill>
              </a:rPr>
              <a:t>Colleagues who commission, oversee, or evaluate such applications and need to know what each capability is for and how to tell whether the result is reliable</a:t>
            </a:r>
            <a:endParaRPr lang="en-US" sz="1400" dirty="0"/>
          </a:p>
        </p:txBody>
      </p:sp>
      <p:sp>
        <p:nvSpPr>
          <p:cNvPr id="5" name="Text 3"/>
          <p:cNvSpPr txBox="1"/>
          <p:nvPr/>
        </p:nvSpPr>
        <p:spPr>
          <a:xfrm>
            <a:off x="548640" y="3840480"/>
            <a:ext cx="5486400" cy="365760"/>
          </a:xfrm>
          <a:prstGeom prst="rect">
            <a:avLst/>
          </a:prstGeom>
          <a:noFill/>
          <a:ln/>
        </p:spPr>
        <p:txBody>
          <a:bodyPr wrap="square" lIns="0" tIns="0" rIns="0" bIns="0" rtlCol="0" anchor="t"/>
          <a:lstStyle/>
          <a:p>
            <a:pPr indent="0" marL="0">
              <a:buNone/>
            </a:pPr>
            <a:r>
              <a:rPr lang="en-US" sz="1500" b="1" dirty="0">
                <a:solidFill>
                  <a:srgbClr val="0B4A8B"/>
                </a:solidFill>
              </a:rPr>
              <a:t>Afterwards, participants can</a:t>
            </a:r>
            <a:endParaRPr lang="en-US" sz="1500" dirty="0"/>
          </a:p>
        </p:txBody>
      </p:sp>
      <p:sp>
        <p:nvSpPr>
          <p:cNvPr id="6" name="Text 4"/>
          <p:cNvSpPr txBox="1"/>
          <p:nvPr/>
        </p:nvSpPr>
        <p:spPr>
          <a:xfrm>
            <a:off x="548640" y="4251960"/>
            <a:ext cx="5486400"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Name the components of an AI application and the problem each solves</a:t>
            </a:r>
            <a:endParaRPr lang="en-US" sz="1400" dirty="0"/>
          </a:p>
          <a:p>
            <a:pPr marL="177800" indent="-177800">
              <a:spcAft>
                <a:spcPts val="500"/>
              </a:spcAft>
              <a:buSzPct val="100000"/>
              <a:buChar char="•"/>
            </a:pPr>
            <a:r>
              <a:rPr lang="en-US" sz="1400" dirty="0">
                <a:solidFill>
                  <a:srgbClr val="1F2A37"/>
                </a:solidFill>
              </a:rPr>
              <a:t>Choose an architecture for a research or data question and say what evidence would show that it works</a:t>
            </a:r>
            <a:endParaRPr lang="en-US" sz="1400" dirty="0"/>
          </a:p>
          <a:p>
            <a:pPr marL="177800" indent="-177800">
              <a:spcAft>
                <a:spcPts val="500"/>
              </a:spcAft>
              <a:buSzPct val="100000"/>
              <a:buChar char="•"/>
            </a:pPr>
            <a:r>
              <a:rPr lang="en-US" sz="1400" dirty="0">
                <a:solidFill>
                  <a:srgbClr val="1F2A37"/>
                </a:solidFill>
              </a:rPr>
              <a:t>Rerun the six notebooks, built on LangChain, LangGraph, FastMCP, and pcn-core, with a question and documents of their own</a:t>
            </a:r>
            <a:endParaRPr lang="en-US" sz="1400" dirty="0"/>
          </a:p>
        </p:txBody>
      </p:sp>
      <p:sp>
        <p:nvSpPr>
          <p:cNvPr id="7" name="question card"/>
          <p:cNvSpPr/>
          <p:nvPr/>
        </p:nvSpPr>
        <p:spPr>
          <a:xfrm>
            <a:off x="6492240" y="1325880"/>
            <a:ext cx="5150815" cy="4754880"/>
          </a:xfrm>
          <a:prstGeom prst="roundRect">
            <a:avLst>
              <a:gd name="adj" fmla="val 2308"/>
            </a:avLst>
          </a:prstGeom>
          <a:solidFill>
            <a:srgbClr val="EEF3F8"/>
          </a:solidFill>
          <a:ln w="12700">
            <a:solidFill>
              <a:srgbClr val="EEF3F8"/>
            </a:solidFill>
            <a:prstDash val="solid"/>
          </a:ln>
        </p:spPr>
      </p:sp>
      <p:sp>
        <p:nvSpPr>
          <p:cNvPr id="8" name="Text 6"/>
          <p:cNvSpPr txBox="1"/>
          <p:nvPr/>
        </p:nvSpPr>
        <p:spPr>
          <a:xfrm>
            <a:off x="6766560" y="1463040"/>
            <a:ext cx="4602175" cy="365760"/>
          </a:xfrm>
          <a:prstGeom prst="rect">
            <a:avLst/>
          </a:prstGeom>
          <a:noFill/>
          <a:ln/>
        </p:spPr>
        <p:txBody>
          <a:bodyPr wrap="square" lIns="0" tIns="0" rIns="0" bIns="0" rtlCol="0" anchor="t"/>
          <a:lstStyle/>
          <a:p>
            <a:pPr indent="0" marL="0">
              <a:buNone/>
            </a:pPr>
            <a:r>
              <a:rPr lang="en-US" sz="1500" b="1" dirty="0">
                <a:solidFill>
                  <a:srgbClr val="0B4A8B"/>
                </a:solidFill>
              </a:rPr>
              <a:t>The one question the session answers</a:t>
            </a:r>
            <a:endParaRPr lang="en-US" sz="1500" dirty="0"/>
          </a:p>
        </p:txBody>
      </p:sp>
      <p:sp>
        <p:nvSpPr>
          <p:cNvPr id="9" name="Text 7"/>
          <p:cNvSpPr txBox="1"/>
          <p:nvPr/>
        </p:nvSpPr>
        <p:spPr>
          <a:xfrm>
            <a:off x="6766560" y="1920240"/>
            <a:ext cx="4602175" cy="1280160"/>
          </a:xfrm>
          <a:prstGeom prst="rect">
            <a:avLst/>
          </a:prstGeom>
          <a:noFill/>
          <a:ln/>
        </p:spPr>
        <p:txBody>
          <a:bodyPr wrap="square" lIns="0" tIns="0" rIns="0" bIns="0" rtlCol="0" anchor="t"/>
          <a:lstStyle/>
          <a:p>
            <a:pPr indent="0" marL="0">
              <a:buNone/>
            </a:pPr>
            <a:r>
              <a:rPr lang="en-US" sz="1600" dirty="0">
                <a:solidFill>
                  <a:srgbClr val="1F2A37"/>
                </a:solidFill>
              </a:rPr>
              <a:t>Given a research or data problem, which application architecture should be built, and what evidence would show that it works?</a:t>
            </a:r>
            <a:endParaRPr lang="en-US" sz="1600" dirty="0"/>
          </a:p>
        </p:txBody>
      </p:sp>
      <p:sp>
        <p:nvSpPr>
          <p:cNvPr id="10" name="Text 8"/>
          <p:cNvSpPr txBox="1"/>
          <p:nvPr/>
        </p:nvSpPr>
        <p:spPr>
          <a:xfrm>
            <a:off x="6766560" y="3383280"/>
            <a:ext cx="3657600" cy="365760"/>
          </a:xfrm>
          <a:prstGeom prst="rect">
            <a:avLst/>
          </a:prstGeom>
          <a:noFill/>
          <a:ln/>
        </p:spPr>
        <p:txBody>
          <a:bodyPr wrap="square" lIns="0" tIns="0" rIns="0" bIns="0" rtlCol="0" anchor="t"/>
          <a:lstStyle/>
          <a:p>
            <a:pPr indent="0" marL="0">
              <a:buNone/>
            </a:pPr>
            <a:r>
              <a:rPr lang="en-US" sz="1500" b="1" dirty="0">
                <a:solidFill>
                  <a:srgbClr val="0B4A8B"/>
                </a:solidFill>
              </a:rPr>
              <a:t>Format</a:t>
            </a:r>
            <a:endParaRPr lang="en-US" sz="1500" dirty="0"/>
          </a:p>
        </p:txBody>
      </p:sp>
      <p:sp>
        <p:nvSpPr>
          <p:cNvPr id="11" name="Text 9"/>
          <p:cNvSpPr txBox="1"/>
          <p:nvPr/>
        </p:nvSpPr>
        <p:spPr>
          <a:xfrm>
            <a:off x="6766560" y="3794760"/>
            <a:ext cx="4602175" cy="21031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37 minutes of slides, 53 of notebook demonstration, then questions</a:t>
            </a:r>
            <a:endParaRPr lang="en-US" sz="1400" dirty="0"/>
          </a:p>
          <a:p>
            <a:pPr marL="177800" indent="-177800">
              <a:spcAft>
                <a:spcPts val="500"/>
              </a:spcAft>
              <a:buSzPct val="100000"/>
              <a:buChar char="•"/>
            </a:pPr>
            <a:r>
              <a:rPr lang="en-US" sz="1400" dirty="0">
                <a:solidFill>
                  <a:srgbClr val="1F2A37"/>
                </a:solidFill>
              </a:rPr>
              <a:t>Six notebooks, one worked example, four planted problems</a:t>
            </a:r>
            <a:endParaRPr lang="en-US" sz="1400" dirty="0"/>
          </a:p>
          <a:p>
            <a:pPr marL="177800" indent="-177800">
              <a:spcAft>
                <a:spcPts val="500"/>
              </a:spcAft>
              <a:buSzPct val="100000"/>
              <a:buChar char="•"/>
            </a:pPr>
            <a:r>
              <a:rPr lang="en-US" sz="1400" dirty="0">
                <a:solidFill>
                  <a:srgbClr val="1F2A37"/>
                </a:solidFill>
              </a:rPr>
              <a:t>Everything runs without an API key; model outputs are then recorded and labelled. Stack: LangChain, LangGraph, FastMCP, Pydantic, pcn-core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The worked example</a:t>
            </a:r>
            <a:endParaRPr lang="en-US" sz="2800" dirty="0"/>
          </a:p>
        </p:txBody>
      </p:sp>
      <p:sp>
        <p:nvSpPr>
          <p:cNvPr id="3" name="question"/>
          <p:cNvSpPr/>
          <p:nvPr/>
        </p:nvSpPr>
        <p:spPr>
          <a:xfrm>
            <a:off x="548640" y="1325880"/>
            <a:ext cx="11094415" cy="1188720"/>
          </a:xfrm>
          <a:prstGeom prst="roundRect">
            <a:avLst>
              <a:gd name="adj" fmla="val 9231"/>
            </a:avLst>
          </a:prstGeom>
          <a:solidFill>
            <a:srgbClr val="EEF3F8"/>
          </a:solidFill>
          <a:ln w="12700">
            <a:solidFill>
              <a:srgbClr val="EEF3F8"/>
            </a:solidFill>
            <a:prstDash val="solid"/>
          </a:ln>
        </p:spPr>
      </p:sp>
      <p:sp>
        <p:nvSpPr>
          <p:cNvPr id="4" name="Text 2"/>
          <p:cNvSpPr txBox="1"/>
          <p:nvPr/>
        </p:nvSpPr>
        <p:spPr>
          <a:xfrm>
            <a:off x="822960" y="1463040"/>
            <a:ext cx="10545775" cy="914400"/>
          </a:xfrm>
          <a:prstGeom prst="rect">
            <a:avLst/>
          </a:prstGeom>
          <a:noFill/>
          <a:ln/>
        </p:spPr>
        <p:txBody>
          <a:bodyPr wrap="square" lIns="0" tIns="0" rIns="0" bIns="0" rtlCol="0" anchor="ctr"/>
          <a:lstStyle/>
          <a:p>
            <a:pPr indent="0" marL="0">
              <a:buNone/>
            </a:pPr>
            <a:r>
              <a:rPr lang="en-US" sz="1600" i="1" dirty="0">
                <a:solidFill>
                  <a:srgbClr val="0B4A8B"/>
                </a:solidFill>
              </a:rPr>
              <a:t>“How have internet access and economic development evolved in Rwanda and Kenya? Compare the recent available data, summarize the main patterns, and cite the sources.”</a:t>
            </a:r>
            <a:endParaRPr lang="en-US" sz="1600" dirty="0"/>
          </a:p>
        </p:txBody>
      </p:sp>
      <p:sp>
        <p:nvSpPr>
          <p:cNvPr id="5" name="Text 3"/>
          <p:cNvSpPr txBox="1"/>
          <p:nvPr/>
        </p:nvSpPr>
        <p:spPr>
          <a:xfrm>
            <a:off x="548640"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Data</a:t>
            </a:r>
            <a:endParaRPr lang="en-US" sz="1500" dirty="0"/>
          </a:p>
        </p:txBody>
      </p:sp>
      <p:sp>
        <p:nvSpPr>
          <p:cNvPr id="6" name="Text 4"/>
          <p:cNvSpPr txBox="1"/>
          <p:nvPr/>
        </p:nvSpPr>
        <p:spPr>
          <a:xfrm>
            <a:off x="548640"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Five World Development Indicators series for Kenya and Rwanda, 2010 to 2024</a:t>
            </a:r>
            <a:endParaRPr lang="en-US" sz="1300" dirty="0"/>
          </a:p>
          <a:p>
            <a:pPr marL="177800" indent="-177800">
              <a:spcAft>
                <a:spcPts val="500"/>
              </a:spcAft>
              <a:buSzPct val="100000"/>
              <a:buChar char="•"/>
            </a:pPr>
            <a:r>
              <a:rPr lang="en-US" sz="1300" dirty="0">
                <a:solidFill>
                  <a:srgbClr val="1F2A37"/>
                </a:solidFill>
              </a:rPr>
              <a:t>Retrieved from the World Bank API on 13 October 2026, with the indicator metadata</a:t>
            </a:r>
            <a:endParaRPr lang="en-US" sz="1300" dirty="0"/>
          </a:p>
          <a:p>
            <a:pPr marL="177800" indent="-177800">
              <a:spcAft>
                <a:spcPts val="500"/>
              </a:spcAft>
              <a:buSzPct val="100000"/>
              <a:buChar char="•"/>
            </a:pPr>
            <a:r>
              <a:rPr lang="en-US" sz="1300" dirty="0">
                <a:solidFill>
                  <a:srgbClr val="1F2A37"/>
                </a:solidFill>
              </a:rPr>
              <a:t>Internet users, mobile subscriptions, GDP per capita, GDP growth, population</a:t>
            </a:r>
            <a:endParaRPr lang="en-US" sz="1300" dirty="0"/>
          </a:p>
        </p:txBody>
      </p:sp>
      <p:sp>
        <p:nvSpPr>
          <p:cNvPr id="7" name="Text 5"/>
          <p:cNvSpPr txBox="1"/>
          <p:nvPr/>
        </p:nvSpPr>
        <p:spPr>
          <a:xfrm>
            <a:off x="4338218"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Documents</a:t>
            </a:r>
            <a:endParaRPr lang="en-US" sz="1500" dirty="0"/>
          </a:p>
        </p:txBody>
      </p:sp>
      <p:sp>
        <p:nvSpPr>
          <p:cNvPr id="8" name="Text 6"/>
          <p:cNvSpPr txBox="1"/>
          <p:nvPr/>
        </p:nvSpPr>
        <p:spPr>
          <a:xfrm>
            <a:off x="4338218"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Four country briefs written for the workshop from the data</a:t>
            </a:r>
            <a:endParaRPr lang="en-US" sz="1300" dirty="0"/>
          </a:p>
          <a:p>
            <a:pPr marL="177800" indent="-177800">
              <a:spcAft>
                <a:spcPts val="500"/>
              </a:spcAft>
              <a:buSzPct val="100000"/>
              <a:buChar char="•"/>
            </a:pPr>
            <a:r>
              <a:rPr lang="en-US" sz="1300" dirty="0">
                <a:solidFill>
                  <a:srgbClr val="1F2A37"/>
                </a:solidFill>
              </a:rPr>
              <a:t>One note on how the internet-users indicator is defined</a:t>
            </a:r>
            <a:endParaRPr lang="en-US" sz="1300" dirty="0"/>
          </a:p>
          <a:p>
            <a:pPr marL="177800" indent="-177800">
              <a:spcAft>
                <a:spcPts val="500"/>
              </a:spcAft>
              <a:buSzPct val="100000"/>
              <a:buChar char="•"/>
            </a:pPr>
            <a:r>
              <a:rPr lang="en-US" sz="1300" dirty="0">
                <a:solidFill>
                  <a:srgbClr val="1F2A37"/>
                </a:solidFill>
              </a:rPr>
              <a:t>One outdated summary from 2016 and two distractors</a:t>
            </a:r>
            <a:endParaRPr lang="en-US" sz="1300" dirty="0"/>
          </a:p>
        </p:txBody>
      </p:sp>
      <p:sp>
        <p:nvSpPr>
          <p:cNvPr id="9" name="Text 7"/>
          <p:cNvSpPr txBox="1"/>
          <p:nvPr/>
        </p:nvSpPr>
        <p:spPr>
          <a:xfrm>
            <a:off x="8127797"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Planted problems</a:t>
            </a:r>
            <a:endParaRPr lang="en-US" sz="1500" dirty="0"/>
          </a:p>
        </p:txBody>
      </p:sp>
      <p:sp>
        <p:nvSpPr>
          <p:cNvPr id="10" name="Text 8"/>
          <p:cNvSpPr txBox="1"/>
          <p:nvPr/>
        </p:nvSpPr>
        <p:spPr>
          <a:xfrm>
            <a:off x="8127797"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An ambiguous question</a:t>
            </a:r>
            <a:endParaRPr lang="en-US" sz="1300" dirty="0"/>
          </a:p>
          <a:p>
            <a:pPr marL="177800" indent="-177800">
              <a:spcAft>
                <a:spcPts val="500"/>
              </a:spcAft>
              <a:buSzPct val="100000"/>
              <a:buChar char="•"/>
            </a:pPr>
            <a:r>
              <a:rPr lang="en-US" sz="1300" dirty="0">
                <a:solidFill>
                  <a:srgbClr val="1F2A37"/>
                </a:solidFill>
              </a:rPr>
              <a:t>An irrelevant retrieval result and an outdated one</a:t>
            </a:r>
            <a:endParaRPr lang="en-US" sz="1300" dirty="0"/>
          </a:p>
          <a:p>
            <a:pPr marL="177800" indent="-177800">
              <a:spcAft>
                <a:spcPts val="500"/>
              </a:spcAft>
              <a:buSzPct val="100000"/>
              <a:buChar char="•"/>
            </a:pPr>
            <a:r>
              <a:rPr lang="en-US" sz="1300" dirty="0">
                <a:solidFill>
                  <a:srgbClr val="1F2A37"/>
                </a:solidFill>
              </a:rPr>
              <a:t>A request for data that does not exist</a:t>
            </a:r>
            <a:endParaRPr lang="en-US" sz="1300" dirty="0"/>
          </a:p>
          <a:p>
            <a:pPr marL="177800" indent="-177800">
              <a:spcAft>
                <a:spcPts val="500"/>
              </a:spcAft>
              <a:buSzPct val="100000"/>
              <a:buChar char="•"/>
            </a:pPr>
            <a:r>
              <a:rPr lang="en-US" sz="1300" dirty="0">
                <a:solidFill>
                  <a:srgbClr val="1F2A37"/>
                </a:solidFill>
              </a:rPr>
              <a:t>A numerical claim no source supports</a:t>
            </a:r>
            <a:endParaRPr lang="en-US" sz="1300" dirty="0"/>
          </a:p>
        </p:txBody>
      </p:sp>
      <p:sp>
        <p:nvSpPr>
          <p:cNvPr id="11" name="Text 9"/>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250" dirty="0">
                <a:solidFill>
                  <a:srgbClr val="5B6B7C"/>
                </a:solidFill>
              </a:rPr>
              <a:t>The application starts as a model answering from memory and gains one capability per notebook. The question never changes, so what changes between notebooks is the capability.</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What makes a language model an application</a:t>
            </a:r>
            <a:endParaRPr lang="en-US" sz="2800" dirty="0"/>
          </a:p>
        </p:txBody>
      </p:sp>
      <p:sp>
        <p:nvSpPr>
          <p:cNvPr id="3" name="Text 1"/>
          <p:cNvSpPr txBox="1"/>
          <p:nvPr/>
        </p:nvSpPr>
        <p:spPr>
          <a:xfrm>
            <a:off x="548640" y="1280160"/>
            <a:ext cx="11094415" cy="640080"/>
          </a:xfrm>
          <a:prstGeom prst="rect">
            <a:avLst/>
          </a:prstGeom>
          <a:noFill/>
          <a:ln/>
        </p:spPr>
        <p:txBody>
          <a:bodyPr wrap="square" lIns="0" tIns="0" rIns="0" bIns="0" rtlCol="0" anchor="t"/>
          <a:lstStyle/>
          <a:p>
            <a:pPr indent="0" marL="0">
              <a:buNone/>
            </a:pPr>
            <a:r>
              <a:rPr lang="en-US" sz="1400" dirty="0">
                <a:solidFill>
                  <a:srgbClr val="1F2A37"/>
                </a:solidFill>
              </a:rPr>
              <a:t>The model is one component of an engineered system. The other components select what it sees, give it tools, check what it produces, and measure the result.</a:t>
            </a:r>
            <a:endParaRPr lang="en-US" sz="1400" dirty="0"/>
          </a:p>
        </p:txBody>
      </p:sp>
      <p:sp>
        <p:nvSpPr>
          <p:cNvPr id="4" name="stage 1"/>
          <p:cNvSpPr/>
          <p:nvPr/>
        </p:nvSpPr>
        <p:spPr>
          <a:xfrm>
            <a:off x="548640" y="2103120"/>
            <a:ext cx="1734769" cy="640080"/>
          </a:xfrm>
          <a:prstGeom prst="roundRect">
            <a:avLst>
              <a:gd name="adj" fmla="val 11429"/>
            </a:avLst>
          </a:prstGeom>
          <a:solidFill>
            <a:srgbClr val="0B4A8B"/>
          </a:solidFill>
          <a:ln w="12700">
            <a:solidFill>
              <a:srgbClr val="0B4A8B"/>
            </a:solidFill>
            <a:prstDash val="solid"/>
          </a:ln>
        </p:spPr>
      </p:sp>
      <p:sp>
        <p:nvSpPr>
          <p:cNvPr id="5" name="Text 3"/>
          <p:cNvSpPr txBox="1"/>
          <p:nvPr/>
        </p:nvSpPr>
        <p:spPr>
          <a:xfrm>
            <a:off x="548640"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6" name="stage 2"/>
          <p:cNvSpPr/>
          <p:nvPr/>
        </p:nvSpPr>
        <p:spPr>
          <a:xfrm>
            <a:off x="2420569" y="2103120"/>
            <a:ext cx="1734769" cy="640080"/>
          </a:xfrm>
          <a:prstGeom prst="roundRect">
            <a:avLst>
              <a:gd name="adj" fmla="val 11429"/>
            </a:avLst>
          </a:prstGeom>
          <a:solidFill>
            <a:srgbClr val="0B4A8B"/>
          </a:solidFill>
          <a:ln w="12700">
            <a:solidFill>
              <a:srgbClr val="0B4A8B"/>
            </a:solidFill>
            <a:prstDash val="solid"/>
          </a:ln>
        </p:spPr>
      </p:sp>
      <p:sp>
        <p:nvSpPr>
          <p:cNvPr id="7" name="Text 5"/>
          <p:cNvSpPr txBox="1"/>
          <p:nvPr/>
        </p:nvSpPr>
        <p:spPr>
          <a:xfrm>
            <a:off x="2420569"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8" name="stage 3"/>
          <p:cNvSpPr/>
          <p:nvPr/>
        </p:nvSpPr>
        <p:spPr>
          <a:xfrm>
            <a:off x="4292498" y="2103120"/>
            <a:ext cx="1734769" cy="640080"/>
          </a:xfrm>
          <a:prstGeom prst="roundRect">
            <a:avLst>
              <a:gd name="adj" fmla="val 11429"/>
            </a:avLst>
          </a:prstGeom>
          <a:solidFill>
            <a:srgbClr val="0B4A8B"/>
          </a:solidFill>
          <a:ln w="12700">
            <a:solidFill>
              <a:srgbClr val="0B4A8B"/>
            </a:solidFill>
            <a:prstDash val="solid"/>
          </a:ln>
        </p:spPr>
      </p:sp>
      <p:sp>
        <p:nvSpPr>
          <p:cNvPr id="9" name="Text 7"/>
          <p:cNvSpPr txBox="1"/>
          <p:nvPr/>
        </p:nvSpPr>
        <p:spPr>
          <a:xfrm>
            <a:off x="4292498"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10" name="stage 4"/>
          <p:cNvSpPr/>
          <p:nvPr/>
        </p:nvSpPr>
        <p:spPr>
          <a:xfrm>
            <a:off x="6164428" y="2103120"/>
            <a:ext cx="1734769" cy="640080"/>
          </a:xfrm>
          <a:prstGeom prst="roundRect">
            <a:avLst>
              <a:gd name="adj" fmla="val 11429"/>
            </a:avLst>
          </a:prstGeom>
          <a:solidFill>
            <a:srgbClr val="0B4A8B"/>
          </a:solidFill>
          <a:ln w="12700">
            <a:solidFill>
              <a:srgbClr val="0B4A8B"/>
            </a:solidFill>
            <a:prstDash val="solid"/>
          </a:ln>
        </p:spPr>
      </p:sp>
      <p:sp>
        <p:nvSpPr>
          <p:cNvPr id="11" name="Text 9"/>
          <p:cNvSpPr txBox="1"/>
          <p:nvPr/>
        </p:nvSpPr>
        <p:spPr>
          <a:xfrm>
            <a:off x="6164428"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2" name="stage 5"/>
          <p:cNvSpPr/>
          <p:nvPr/>
        </p:nvSpPr>
        <p:spPr>
          <a:xfrm>
            <a:off x="8036357" y="2103120"/>
            <a:ext cx="1734769" cy="640080"/>
          </a:xfrm>
          <a:prstGeom prst="roundRect">
            <a:avLst>
              <a:gd name="adj" fmla="val 11429"/>
            </a:avLst>
          </a:prstGeom>
          <a:solidFill>
            <a:srgbClr val="0B4A8B"/>
          </a:solidFill>
          <a:ln w="12700">
            <a:solidFill>
              <a:srgbClr val="0B4A8B"/>
            </a:solidFill>
            <a:prstDash val="solid"/>
          </a:ln>
        </p:spPr>
      </p:sp>
      <p:sp>
        <p:nvSpPr>
          <p:cNvPr id="13" name="Text 11"/>
          <p:cNvSpPr txBox="1"/>
          <p:nvPr/>
        </p:nvSpPr>
        <p:spPr>
          <a:xfrm>
            <a:off x="8036357"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4" name="stage 6"/>
          <p:cNvSpPr/>
          <p:nvPr/>
        </p:nvSpPr>
        <p:spPr>
          <a:xfrm>
            <a:off x="9908286" y="2103120"/>
            <a:ext cx="1734769" cy="640080"/>
          </a:xfrm>
          <a:prstGeom prst="roundRect">
            <a:avLst>
              <a:gd name="adj" fmla="val 11429"/>
            </a:avLst>
          </a:prstGeom>
          <a:solidFill>
            <a:srgbClr val="0B4A8B"/>
          </a:solidFill>
          <a:ln w="12700">
            <a:solidFill>
              <a:srgbClr val="0B4A8B"/>
            </a:solidFill>
            <a:prstDash val="solid"/>
          </a:ln>
        </p:spPr>
      </p:sp>
      <p:sp>
        <p:nvSpPr>
          <p:cNvPr id="15" name="Text 13"/>
          <p:cNvSpPr txBox="1"/>
          <p:nvPr/>
        </p:nvSpPr>
        <p:spPr>
          <a:xfrm>
            <a:off x="9908286"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graphicFrame>
        <p:nvGraphicFramePr>
          <p:cNvPr id="5" name="components table"/>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2926080"/>
                <a:gridCol w="6858000"/>
                <a:gridCol w="130759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 it solves</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and context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model behaves consistently and answers from supplied evidence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Prepared knowledge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Documents become searchable units with metadata</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Retrieval</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right passages reach the model for each question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Tools and schemas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Numbers come from data; answers have a shape other software can read</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Workflow or agent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Several tools and steps, bounded and inspectable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Verification and evaluation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Each number is checked; the whole is measured across questions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Instructions, context, and the question</a:t>
            </a:r>
            <a:endParaRPr lang="en-US" sz="2800" dirty="0"/>
          </a:p>
        </p:txBody>
      </p:sp>
      <p:sp>
        <p:nvSpPr>
          <p:cNvPr id="3" name="stage 1"/>
          <p:cNvSpPr/>
          <p:nvPr/>
        </p:nvSpPr>
        <p:spPr>
          <a:xfrm>
            <a:off x="548640" y="1280160"/>
            <a:ext cx="1734769" cy="640080"/>
          </a:xfrm>
          <a:prstGeom prst="roundRect">
            <a:avLst>
              <a:gd name="adj" fmla="val 11429"/>
            </a:avLst>
          </a:prstGeom>
          <a:solidFill>
            <a:srgbClr val="0B4A8B"/>
          </a:solidFill>
          <a:ln w="12700">
            <a:solidFill>
              <a:srgbClr val="0B4A8B"/>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Text 13"/>
          <p:cNvSpPr txBox="1"/>
          <p:nvPr/>
        </p:nvSpPr>
        <p:spPr>
          <a:xfrm>
            <a:off x="548640" y="219456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Three parts of every call</a:t>
            </a:r>
            <a:endParaRPr lang="en-US" sz="1500" dirty="0"/>
          </a:p>
        </p:txBody>
      </p:sp>
      <p:sp>
        <p:nvSpPr>
          <p:cNvPr id="16" name="Text 14"/>
          <p:cNvSpPr txBox="1"/>
          <p:nvPr/>
        </p:nvSpPr>
        <p:spPr>
          <a:xfrm>
            <a:off x="548640" y="2606040"/>
            <a:ext cx="566928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Instructions: what the application wants, including how to cite, what to do when information is missing, when to ask</a:t>
            </a:r>
            <a:endParaRPr lang="en-US" sz="1400" dirty="0"/>
          </a:p>
          <a:p>
            <a:pPr marL="177800" indent="-177800">
              <a:spcAft>
                <a:spcPts val="500"/>
              </a:spcAft>
              <a:buSzPct val="100000"/>
              <a:buChar char="•"/>
            </a:pPr>
            <a:r>
              <a:rPr lang="en-US" sz="1400" dirty="0">
                <a:solidFill>
                  <a:srgbClr val="1F2A37"/>
                </a:solidFill>
              </a:rPr>
              <a:t>Context: the evidence supplied with the question</a:t>
            </a:r>
            <a:endParaRPr lang="en-US" sz="1400" dirty="0"/>
          </a:p>
          <a:p>
            <a:pPr marL="177800" indent="-177800">
              <a:spcAft>
                <a:spcPts val="500"/>
              </a:spcAft>
              <a:buSzPct val="100000"/>
              <a:buChar char="•"/>
            </a:pPr>
            <a:r>
              <a:rPr lang="en-US" sz="1400" dirty="0">
                <a:solidFill>
                  <a:srgbClr val="1F2A37"/>
                </a:solidFill>
              </a:rPr>
              <a:t>The question itself</a:t>
            </a:r>
            <a:endParaRPr lang="en-US" sz="1400" dirty="0"/>
          </a:p>
        </p:txBody>
      </p:sp>
      <p:sp>
        <p:nvSpPr>
          <p:cNvPr id="17" name="Text 15"/>
          <p:cNvSpPr txBox="1"/>
          <p:nvPr/>
        </p:nvSpPr>
        <p:spPr>
          <a:xfrm>
            <a:off x="548640" y="4297680"/>
            <a:ext cx="5669280" cy="548640"/>
          </a:xfrm>
          <a:prstGeom prst="rect">
            <a:avLst/>
          </a:prstGeom>
          <a:noFill/>
          <a:ln/>
        </p:spPr>
        <p:txBody>
          <a:bodyPr wrap="square" lIns="0" tIns="0" rIns="0" bIns="0" rtlCol="0" anchor="t"/>
          <a:lstStyle/>
          <a:p>
            <a:pPr indent="0" marL="0">
              <a:buNone/>
            </a:pPr>
            <a:r>
              <a:rPr lang="en-US" sz="1300" dirty="0">
                <a:solidFill>
                  <a:srgbClr val="5B6B7C"/>
                </a:solidFill>
              </a:rPr>
              <a:t>Kept separate because each is changed by a different person for a different reason.</a:t>
            </a:r>
            <a:endParaRPr lang="en-US" sz="1300" dirty="0"/>
          </a:p>
        </p:txBody>
      </p:sp>
      <p:sp>
        <p:nvSpPr>
          <p:cNvPr id="18" name="Text 16"/>
          <p:cNvSpPr txBox="1"/>
          <p:nvPr/>
        </p:nvSpPr>
        <p:spPr>
          <a:xfrm>
            <a:off x="6675120" y="2194560"/>
            <a:ext cx="4967935" cy="28346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system:  You are a research assistant for development data.</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Answer only from the supplied context. Cite the</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document id after each figure. If the context does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not contain what is needed, say so.</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user:    CONTEXT: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[kenya-digital] ... 35.0 percent in 2024 ...</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[rwanda-digital] ... 31.7 percent in 2024 ...</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QUESTION: How have internet access and ...</a:t>
            </a:r>
            <a:endParaRPr lang="en-US" sz="1100" dirty="0"/>
          </a:p>
        </p:txBody>
      </p:sp>
      <p:sp>
        <p:nvSpPr>
          <p:cNvPr id="19" name="Text 17"/>
          <p:cNvSpPr txBox="1"/>
          <p:nvPr/>
        </p:nvSpPr>
        <p:spPr>
          <a:xfrm>
            <a:off x="548640" y="4983480"/>
            <a:ext cx="11094415" cy="365760"/>
          </a:xfrm>
          <a:prstGeom prst="rect">
            <a:avLst/>
          </a:prstGeom>
          <a:noFill/>
          <a:ln/>
        </p:spPr>
        <p:txBody>
          <a:bodyPr wrap="square" lIns="0" tIns="0" rIns="0" bIns="0" rtlCol="0" anchor="t"/>
          <a:lstStyle/>
          <a:p>
            <a:pPr indent="0" marL="0">
              <a:buNone/>
            </a:pPr>
            <a:r>
              <a:rPr lang="en-US" sz="1500" b="1" dirty="0">
                <a:solidFill>
                  <a:srgbClr val="0B4A8B"/>
                </a:solidFill>
              </a:rPr>
              <a:t>What instructions can and cannot do</a:t>
            </a:r>
            <a:endParaRPr lang="en-US" sz="1500" dirty="0"/>
          </a:p>
        </p:txBody>
      </p:sp>
      <p:sp>
        <p:nvSpPr>
          <p:cNvPr id="20" name="Text 18"/>
          <p:cNvSpPr txBox="1"/>
          <p:nvPr/>
        </p:nvSpPr>
        <p:spPr>
          <a:xfrm>
            <a:off x="548640" y="5394960"/>
            <a:ext cx="11094415" cy="731520"/>
          </a:xfrm>
          <a:prstGeom prst="rect">
            <a:avLst/>
          </a:prstGeom>
          <a:noFill/>
          <a:ln/>
        </p:spPr>
        <p:txBody>
          <a:bodyPr wrap="square" lIns="0" tIns="0" rIns="0" bIns="0" rtlCol="0" anchor="t"/>
          <a:lstStyle/>
          <a:p>
            <a:pPr indent="0" marL="0">
              <a:buNone/>
            </a:pPr>
            <a:r>
              <a:rPr lang="en-US" sz="1300" dirty="0">
                <a:solidFill>
                  <a:srgbClr val="1F2A37"/>
                </a:solidFill>
              </a:rPr>
              <a:t>They shape behaviour: citations, handling of missing information, asking on ambiguity. They cannot supply data the model does not have. Notebook 01 shows the same question answered from memory and from four briefs.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Why context has to be selected</a:t>
            </a:r>
            <a:endParaRPr lang="en-US" sz="2800" dirty="0"/>
          </a:p>
        </p:txBody>
      </p:sp>
      <p:sp>
        <p:nvSpPr>
          <p:cNvPr id="3" name="cost 0"/>
          <p:cNvSpPr/>
          <p:nvPr/>
        </p:nvSpPr>
        <p:spPr>
          <a:xfrm>
            <a:off x="548640" y="1371600"/>
            <a:ext cx="11094415" cy="868680"/>
          </a:xfrm>
          <a:prstGeom prst="roundRect">
            <a:avLst>
              <a:gd name="adj" fmla="val 12632"/>
            </a:avLst>
          </a:prstGeom>
          <a:solidFill>
            <a:srgbClr val="EEF3F8"/>
          </a:solidFill>
          <a:ln w="12700">
            <a:solidFill>
              <a:srgbClr val="EEF3F8"/>
            </a:solidFill>
            <a:prstDash val="solid"/>
          </a:ln>
        </p:spPr>
      </p:sp>
      <p:sp>
        <p:nvSpPr>
          <p:cNvPr id="4" name="Text 2"/>
          <p:cNvSpPr txBox="1"/>
          <p:nvPr/>
        </p:nvSpPr>
        <p:spPr>
          <a:xfrm>
            <a:off x="822960" y="137160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Four briefs</a:t>
            </a:r>
            <a:endParaRPr lang="en-US" sz="1500" dirty="0"/>
          </a:p>
        </p:txBody>
      </p:sp>
      <p:sp>
        <p:nvSpPr>
          <p:cNvPr id="5" name="Text 3"/>
          <p:cNvSpPr txBox="1"/>
          <p:nvPr/>
        </p:nvSpPr>
        <p:spPr>
          <a:xfrm>
            <a:off x="3840480" y="1371600"/>
            <a:ext cx="2926080" cy="868680"/>
          </a:xfrm>
          <a:prstGeom prst="rect">
            <a:avLst/>
          </a:prstGeom>
          <a:noFill/>
          <a:ln/>
        </p:spPr>
        <p:txBody>
          <a:bodyPr wrap="square" lIns="0" tIns="0" rIns="0" bIns="0" rtlCol="0" anchor="ctr"/>
          <a:lstStyle/>
          <a:p>
            <a:pPr indent="0" marL="0">
              <a:buNone/>
            </a:pPr>
            <a:r>
              <a:rPr lang="en-US" sz="1500" dirty="0">
                <a:solidFill>
                  <a:srgbClr val="1F2A37"/>
                </a:solidFill>
              </a:rPr>
              <a:t>about 1,000 tokens</a:t>
            </a:r>
            <a:endParaRPr lang="en-US" sz="1500" dirty="0"/>
          </a:p>
        </p:txBody>
      </p:sp>
      <p:sp>
        <p:nvSpPr>
          <p:cNvPr id="6" name="Text 4"/>
          <p:cNvSpPr txBox="1"/>
          <p:nvPr/>
        </p:nvSpPr>
        <p:spPr>
          <a:xfrm>
            <a:off x="6949440" y="1371600"/>
            <a:ext cx="4419295" cy="868680"/>
          </a:xfrm>
          <a:prstGeom prst="rect">
            <a:avLst/>
          </a:prstGeom>
          <a:noFill/>
          <a:ln/>
        </p:spPr>
        <p:txBody>
          <a:bodyPr wrap="square" lIns="0" tIns="0" rIns="0" bIns="0" rtlCol="0" anchor="ctr"/>
          <a:lstStyle/>
          <a:p>
            <a:pPr indent="0" marL="0">
              <a:buNone/>
            </a:pPr>
            <a:r>
              <a:rPr lang="en-US" sz="1300" dirty="0">
                <a:solidFill>
                  <a:srgbClr val="5B6B7C"/>
                </a:solidFill>
              </a:rPr>
              <a:t>fit in one call</a:t>
            </a:r>
            <a:endParaRPr lang="en-US" sz="1300" dirty="0"/>
          </a:p>
        </p:txBody>
      </p:sp>
      <p:sp>
        <p:nvSpPr>
          <p:cNvPr id="7" name="cost 1"/>
          <p:cNvSpPr/>
          <p:nvPr/>
        </p:nvSpPr>
        <p:spPr>
          <a:xfrm>
            <a:off x="548640" y="2423160"/>
            <a:ext cx="11094415" cy="868680"/>
          </a:xfrm>
          <a:prstGeom prst="roundRect">
            <a:avLst>
              <a:gd name="adj" fmla="val 12632"/>
            </a:avLst>
          </a:prstGeom>
          <a:solidFill>
            <a:srgbClr val="EEF3F8"/>
          </a:solidFill>
          <a:ln w="12700">
            <a:solidFill>
              <a:srgbClr val="EEF3F8"/>
            </a:solidFill>
            <a:prstDash val="solid"/>
          </a:ln>
        </p:spPr>
      </p:sp>
      <p:sp>
        <p:nvSpPr>
          <p:cNvPr id="8" name="Text 6"/>
          <p:cNvSpPr txBox="1"/>
          <p:nvPr/>
        </p:nvSpPr>
        <p:spPr>
          <a:xfrm>
            <a:off x="822960" y="242316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A real collection</a:t>
            </a:r>
            <a:endParaRPr lang="en-US" sz="1500" dirty="0"/>
          </a:p>
        </p:txBody>
      </p:sp>
      <p:sp>
        <p:nvSpPr>
          <p:cNvPr id="9" name="Text 7"/>
          <p:cNvSpPr txBox="1"/>
          <p:nvPr/>
        </p:nvSpPr>
        <p:spPr>
          <a:xfrm>
            <a:off x="3840480" y="2423160"/>
            <a:ext cx="2926080" cy="868680"/>
          </a:xfrm>
          <a:prstGeom prst="rect">
            <a:avLst/>
          </a:prstGeom>
          <a:noFill/>
          <a:ln/>
        </p:spPr>
        <p:txBody>
          <a:bodyPr wrap="square" lIns="0" tIns="0" rIns="0" bIns="0" rtlCol="0" anchor="ctr"/>
          <a:lstStyle/>
          <a:p>
            <a:pPr indent="0" marL="0">
              <a:buNone/>
            </a:pPr>
            <a:r>
              <a:rPr lang="en-US" sz="1500" dirty="0">
                <a:solidFill>
                  <a:srgbClr val="1F2A37"/>
                </a:solidFill>
              </a:rPr>
              <a:t>thousands of documents</a:t>
            </a:r>
            <a:endParaRPr lang="en-US" sz="1500" dirty="0"/>
          </a:p>
        </p:txBody>
      </p:sp>
      <p:sp>
        <p:nvSpPr>
          <p:cNvPr id="10" name="Text 8"/>
          <p:cNvSpPr txBox="1"/>
          <p:nvPr/>
        </p:nvSpPr>
        <p:spPr>
          <a:xfrm>
            <a:off x="6949440" y="2423160"/>
            <a:ext cx="4419295" cy="868680"/>
          </a:xfrm>
          <a:prstGeom prst="rect">
            <a:avLst/>
          </a:prstGeom>
          <a:noFill/>
          <a:ln/>
        </p:spPr>
        <p:txBody>
          <a:bodyPr wrap="square" lIns="0" tIns="0" rIns="0" bIns="0" rtlCol="0" anchor="ctr"/>
          <a:lstStyle/>
          <a:p>
            <a:pPr indent="0" marL="0">
              <a:buNone/>
            </a:pPr>
            <a:r>
              <a:rPr lang="en-US" sz="1300" dirty="0">
                <a:solidFill>
                  <a:srgbClr val="5B6B7C"/>
                </a:solidFill>
              </a:rPr>
              <a:t>does not fit, and most of it is irrelevant to any one question</a:t>
            </a:r>
            <a:endParaRPr lang="en-US" sz="1300" dirty="0"/>
          </a:p>
        </p:txBody>
      </p:sp>
      <p:sp>
        <p:nvSpPr>
          <p:cNvPr id="11" name="cost 2"/>
          <p:cNvSpPr/>
          <p:nvPr/>
        </p:nvSpPr>
        <p:spPr>
          <a:xfrm>
            <a:off x="548640" y="3474720"/>
            <a:ext cx="11094415" cy="868680"/>
          </a:xfrm>
          <a:prstGeom prst="roundRect">
            <a:avLst>
              <a:gd name="adj" fmla="val 12632"/>
            </a:avLst>
          </a:prstGeom>
          <a:solidFill>
            <a:srgbClr val="EEF3F8"/>
          </a:solidFill>
          <a:ln w="12700">
            <a:solidFill>
              <a:srgbClr val="EEF3F8"/>
            </a:solidFill>
            <a:prstDash val="solid"/>
          </a:ln>
        </p:spPr>
      </p:sp>
      <p:sp>
        <p:nvSpPr>
          <p:cNvPr id="12" name="Text 10"/>
          <p:cNvSpPr txBox="1"/>
          <p:nvPr/>
        </p:nvSpPr>
        <p:spPr>
          <a:xfrm>
            <a:off x="822960" y="347472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Every token supplied</a:t>
            </a:r>
            <a:endParaRPr lang="en-US" sz="1500" dirty="0"/>
          </a:p>
        </p:txBody>
      </p:sp>
      <p:sp>
        <p:nvSpPr>
          <p:cNvPr id="13" name="Text 11"/>
          <p:cNvSpPr txBox="1"/>
          <p:nvPr/>
        </p:nvSpPr>
        <p:spPr>
          <a:xfrm>
            <a:off x="3840480" y="3474720"/>
            <a:ext cx="2926080" cy="868680"/>
          </a:xfrm>
          <a:prstGeom prst="rect">
            <a:avLst/>
          </a:prstGeom>
          <a:noFill/>
          <a:ln/>
        </p:spPr>
        <p:txBody>
          <a:bodyPr wrap="square" lIns="0" tIns="0" rIns="0" bIns="0" rtlCol="0" anchor="ctr"/>
          <a:lstStyle/>
          <a:p>
            <a:pPr indent="0" marL="0">
              <a:buNone/>
            </a:pPr>
            <a:r>
              <a:rPr lang="en-US" sz="1500" dirty="0">
                <a:solidFill>
                  <a:srgbClr val="1F2A37"/>
                </a:solidFill>
              </a:rPr>
              <a:t>costs money and time</a:t>
            </a:r>
            <a:endParaRPr lang="en-US" sz="1500" dirty="0"/>
          </a:p>
        </p:txBody>
      </p:sp>
      <p:sp>
        <p:nvSpPr>
          <p:cNvPr id="14" name="Text 12"/>
          <p:cNvSpPr txBox="1"/>
          <p:nvPr/>
        </p:nvSpPr>
        <p:spPr>
          <a:xfrm>
            <a:off x="6949440" y="3474720"/>
            <a:ext cx="4419295" cy="868680"/>
          </a:xfrm>
          <a:prstGeom prst="rect">
            <a:avLst/>
          </a:prstGeom>
          <a:noFill/>
          <a:ln/>
        </p:spPr>
        <p:txBody>
          <a:bodyPr wrap="square" lIns="0" tIns="0" rIns="0" bIns="0" rtlCol="0" anchor="ctr"/>
          <a:lstStyle/>
          <a:p>
            <a:pPr indent="0" marL="0">
              <a:buNone/>
            </a:pPr>
            <a:r>
              <a:rPr lang="en-US" sz="1300" dirty="0">
                <a:solidFill>
                  <a:srgbClr val="5B6B7C"/>
                </a:solidFill>
              </a:rPr>
              <a:t>and dilutes the passages that matter</a:t>
            </a:r>
            <a:endParaRPr lang="en-US" sz="1300" dirty="0"/>
          </a:p>
        </p:txBody>
      </p:sp>
      <p:sp>
        <p:nvSpPr>
          <p:cNvPr id="15" name="Text 13"/>
          <p:cNvSpPr txBox="1"/>
          <p:nvPr/>
        </p:nvSpPr>
        <p:spPr>
          <a:xfrm>
            <a:off x="548640" y="4663440"/>
            <a:ext cx="11094415" cy="914400"/>
          </a:xfrm>
          <a:prstGeom prst="rect">
            <a:avLst/>
          </a:prstGeom>
          <a:noFill/>
          <a:ln/>
        </p:spPr>
        <p:txBody>
          <a:bodyPr wrap="square" lIns="0" tIns="0" rIns="0" bIns="0" rtlCol="0" anchor="t"/>
          <a:lstStyle/>
          <a:p>
            <a:pPr indent="0" marL="0">
              <a:buNone/>
            </a:pPr>
            <a:r>
              <a:rPr lang="en-US" sz="1400" dirty="0">
                <a:solidFill>
                  <a:srgbClr val="1F2A37"/>
                </a:solidFill>
              </a:rPr>
              <a:t>So the application needs a way to select the passages that answer the question. That is what the next two components do: prepare the collection so that it can be searched, and retrieve from it per question.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Preparing knowledge: metadata, chunks, embeddings</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0B4A8B"/>
          </a:solidFill>
          <a:ln w="12700">
            <a:solidFill>
              <a:srgbClr val="0B4A8B"/>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prep documents"/>
          <p:cNvSpPr/>
          <p:nvPr/>
        </p:nvSpPr>
        <p:spPr>
          <a:xfrm>
            <a:off x="548640" y="2240280"/>
            <a:ext cx="1962851" cy="548640"/>
          </a:xfrm>
          <a:prstGeom prst="roundRect">
            <a:avLst>
              <a:gd name="adj" fmla="val 13333"/>
            </a:avLst>
          </a:prstGeom>
          <a:solidFill>
            <a:srgbClr val="0A8F8C"/>
          </a:solidFill>
          <a:ln w="12700">
            <a:solidFill>
              <a:srgbClr val="0A8F8C"/>
            </a:solidFill>
            <a:prstDash val="solid"/>
          </a:ln>
        </p:spPr>
      </p:sp>
      <p:sp>
        <p:nvSpPr>
          <p:cNvPr id="16" name="Text 14"/>
          <p:cNvSpPr txBox="1"/>
          <p:nvPr/>
        </p:nvSpPr>
        <p:spPr>
          <a:xfrm>
            <a:off x="548640"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documents</a:t>
            </a:r>
            <a:endParaRPr lang="en-US" sz="1200" dirty="0"/>
          </a:p>
        </p:txBody>
      </p:sp>
      <p:sp>
        <p:nvSpPr>
          <p:cNvPr id="17" name="prep arrow 0"/>
          <p:cNvSpPr/>
          <p:nvPr/>
        </p:nvSpPr>
        <p:spPr>
          <a:xfrm>
            <a:off x="2538923" y="2331720"/>
            <a:ext cx="265176" cy="365760"/>
          </a:xfrm>
          <a:prstGeom prst="rightArrow">
            <a:avLst/>
          </a:prstGeom>
          <a:solidFill>
            <a:srgbClr val="C9D3DE"/>
          </a:solidFill>
          <a:ln w="12700">
            <a:solidFill>
              <a:srgbClr val="C9D3DE"/>
            </a:solidFill>
            <a:prstDash val="solid"/>
          </a:ln>
        </p:spPr>
      </p:sp>
      <p:sp>
        <p:nvSpPr>
          <p:cNvPr id="18" name="prep metadata"/>
          <p:cNvSpPr/>
          <p:nvPr/>
        </p:nvSpPr>
        <p:spPr>
          <a:xfrm>
            <a:off x="2831531" y="2240280"/>
            <a:ext cx="1962851" cy="548640"/>
          </a:xfrm>
          <a:prstGeom prst="roundRect">
            <a:avLst>
              <a:gd name="adj" fmla="val 13333"/>
            </a:avLst>
          </a:prstGeom>
          <a:solidFill>
            <a:srgbClr val="0A8F8C"/>
          </a:solidFill>
          <a:ln w="12700">
            <a:solidFill>
              <a:srgbClr val="0A8F8C"/>
            </a:solidFill>
            <a:prstDash val="solid"/>
          </a:ln>
        </p:spPr>
      </p:sp>
      <p:sp>
        <p:nvSpPr>
          <p:cNvPr id="19" name="Text 17"/>
          <p:cNvSpPr txBox="1"/>
          <p:nvPr/>
        </p:nvSpPr>
        <p:spPr>
          <a:xfrm>
            <a:off x="2831531"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metadata</a:t>
            </a:r>
            <a:endParaRPr lang="en-US" sz="1200" dirty="0"/>
          </a:p>
        </p:txBody>
      </p:sp>
      <p:sp>
        <p:nvSpPr>
          <p:cNvPr id="20" name="prep arrow 1"/>
          <p:cNvSpPr/>
          <p:nvPr/>
        </p:nvSpPr>
        <p:spPr>
          <a:xfrm>
            <a:off x="4821814" y="2331720"/>
            <a:ext cx="265176" cy="365760"/>
          </a:xfrm>
          <a:prstGeom prst="rightArrow">
            <a:avLst/>
          </a:prstGeom>
          <a:solidFill>
            <a:srgbClr val="C9D3DE"/>
          </a:solidFill>
          <a:ln w="12700">
            <a:solidFill>
              <a:srgbClr val="C9D3DE"/>
            </a:solidFill>
            <a:prstDash val="solid"/>
          </a:ln>
        </p:spPr>
      </p:sp>
      <p:sp>
        <p:nvSpPr>
          <p:cNvPr id="21" name="prep chunks"/>
          <p:cNvSpPr/>
          <p:nvPr/>
        </p:nvSpPr>
        <p:spPr>
          <a:xfrm>
            <a:off x="5114422" y="2240280"/>
            <a:ext cx="1962851" cy="548640"/>
          </a:xfrm>
          <a:prstGeom prst="roundRect">
            <a:avLst>
              <a:gd name="adj" fmla="val 13333"/>
            </a:avLst>
          </a:prstGeom>
          <a:solidFill>
            <a:srgbClr val="0A8F8C"/>
          </a:solidFill>
          <a:ln w="12700">
            <a:solidFill>
              <a:srgbClr val="0A8F8C"/>
            </a:solidFill>
            <a:prstDash val="solid"/>
          </a:ln>
        </p:spPr>
      </p:sp>
      <p:sp>
        <p:nvSpPr>
          <p:cNvPr id="22" name="Text 20"/>
          <p:cNvSpPr txBox="1"/>
          <p:nvPr/>
        </p:nvSpPr>
        <p:spPr>
          <a:xfrm>
            <a:off x="5114422"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chunks</a:t>
            </a:r>
            <a:endParaRPr lang="en-US" sz="1200" dirty="0"/>
          </a:p>
        </p:txBody>
      </p:sp>
      <p:sp>
        <p:nvSpPr>
          <p:cNvPr id="23" name="prep arrow 2"/>
          <p:cNvSpPr/>
          <p:nvPr/>
        </p:nvSpPr>
        <p:spPr>
          <a:xfrm>
            <a:off x="7104705" y="2331720"/>
            <a:ext cx="265176" cy="365760"/>
          </a:xfrm>
          <a:prstGeom prst="rightArrow">
            <a:avLst/>
          </a:prstGeom>
          <a:solidFill>
            <a:srgbClr val="C9D3DE"/>
          </a:solidFill>
          <a:ln w="12700">
            <a:solidFill>
              <a:srgbClr val="C9D3DE"/>
            </a:solidFill>
            <a:prstDash val="solid"/>
          </a:ln>
        </p:spPr>
      </p:sp>
      <p:sp>
        <p:nvSpPr>
          <p:cNvPr id="24" name="prep embeddings"/>
          <p:cNvSpPr/>
          <p:nvPr/>
        </p:nvSpPr>
        <p:spPr>
          <a:xfrm>
            <a:off x="7397313" y="2240280"/>
            <a:ext cx="1962851" cy="548640"/>
          </a:xfrm>
          <a:prstGeom prst="roundRect">
            <a:avLst>
              <a:gd name="adj" fmla="val 13333"/>
            </a:avLst>
          </a:prstGeom>
          <a:solidFill>
            <a:srgbClr val="0A8F8C"/>
          </a:solidFill>
          <a:ln w="12700">
            <a:solidFill>
              <a:srgbClr val="0A8F8C"/>
            </a:solidFill>
            <a:prstDash val="solid"/>
          </a:ln>
        </p:spPr>
      </p:sp>
      <p:sp>
        <p:nvSpPr>
          <p:cNvPr id="25" name="Text 23"/>
          <p:cNvSpPr txBox="1"/>
          <p:nvPr/>
        </p:nvSpPr>
        <p:spPr>
          <a:xfrm>
            <a:off x="7397313"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embeddings</a:t>
            </a:r>
            <a:endParaRPr lang="en-US" sz="1200" dirty="0"/>
          </a:p>
        </p:txBody>
      </p:sp>
      <p:sp>
        <p:nvSpPr>
          <p:cNvPr id="26" name="prep arrow 3"/>
          <p:cNvSpPr/>
          <p:nvPr/>
        </p:nvSpPr>
        <p:spPr>
          <a:xfrm>
            <a:off x="9387596" y="2331720"/>
            <a:ext cx="265176" cy="365760"/>
          </a:xfrm>
          <a:prstGeom prst="rightArrow">
            <a:avLst/>
          </a:prstGeom>
          <a:solidFill>
            <a:srgbClr val="C9D3DE"/>
          </a:solidFill>
          <a:ln w="12700">
            <a:solidFill>
              <a:srgbClr val="C9D3DE"/>
            </a:solidFill>
            <a:prstDash val="solid"/>
          </a:ln>
        </p:spPr>
      </p:sp>
      <p:sp>
        <p:nvSpPr>
          <p:cNvPr id="27" name="prep index"/>
          <p:cNvSpPr/>
          <p:nvPr/>
        </p:nvSpPr>
        <p:spPr>
          <a:xfrm>
            <a:off x="9680204" y="2240280"/>
            <a:ext cx="1962851" cy="548640"/>
          </a:xfrm>
          <a:prstGeom prst="roundRect">
            <a:avLst>
              <a:gd name="adj" fmla="val 13333"/>
            </a:avLst>
          </a:prstGeom>
          <a:solidFill>
            <a:srgbClr val="0A8F8C"/>
          </a:solidFill>
          <a:ln w="12700">
            <a:solidFill>
              <a:srgbClr val="0A8F8C"/>
            </a:solidFill>
            <a:prstDash val="solid"/>
          </a:ln>
        </p:spPr>
      </p:sp>
      <p:sp>
        <p:nvSpPr>
          <p:cNvPr id="28" name="Text 26"/>
          <p:cNvSpPr txBox="1"/>
          <p:nvPr/>
        </p:nvSpPr>
        <p:spPr>
          <a:xfrm>
            <a:off x="9680204"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index</a:t>
            </a:r>
            <a:endParaRPr lang="en-US" sz="1200" dirty="0"/>
          </a:p>
        </p:txBody>
      </p:sp>
      <p:sp>
        <p:nvSpPr>
          <p:cNvPr id="29" name="prep card 0"/>
          <p:cNvSpPr/>
          <p:nvPr/>
        </p:nvSpPr>
        <p:spPr>
          <a:xfrm>
            <a:off x="548640" y="3063240"/>
            <a:ext cx="3515258" cy="2514600"/>
          </a:xfrm>
          <a:prstGeom prst="roundRect">
            <a:avLst>
              <a:gd name="adj" fmla="val 4364"/>
            </a:avLst>
          </a:prstGeom>
          <a:solidFill>
            <a:srgbClr val="EEF3F8"/>
          </a:solidFill>
          <a:ln w="12700">
            <a:solidFill>
              <a:srgbClr val="EEF3F8"/>
            </a:solidFill>
            <a:prstDash val="solid"/>
          </a:ln>
        </p:spPr>
      </p:sp>
      <p:sp>
        <p:nvSpPr>
          <p:cNvPr id="30" name="Text 28"/>
          <p:cNvSpPr txBox="1"/>
          <p:nvPr/>
        </p:nvSpPr>
        <p:spPr>
          <a:xfrm>
            <a:off x="731520"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Metadata is knowledge</a:t>
            </a:r>
            <a:endParaRPr lang="en-US" sz="1400" dirty="0"/>
          </a:p>
        </p:txBody>
      </p:sp>
      <p:sp>
        <p:nvSpPr>
          <p:cNvPr id="31" name="Text 29"/>
          <p:cNvSpPr txBox="1"/>
          <p:nvPr/>
        </p:nvSpPr>
        <p:spPr>
          <a:xfrm>
            <a:off x="731520"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Date, type, country, section. The 2016 summary reads as current; only its date says otherwise. Filters, ranking, and citations all run on metadata.</a:t>
            </a:r>
            <a:endParaRPr lang="en-US" sz="1250" dirty="0"/>
          </a:p>
        </p:txBody>
      </p:sp>
      <p:sp>
        <p:nvSpPr>
          <p:cNvPr id="32" name="prep card 1"/>
          <p:cNvSpPr/>
          <p:nvPr/>
        </p:nvSpPr>
        <p:spPr>
          <a:xfrm>
            <a:off x="4338218" y="3063240"/>
            <a:ext cx="3515258" cy="2514600"/>
          </a:xfrm>
          <a:prstGeom prst="roundRect">
            <a:avLst>
              <a:gd name="adj" fmla="val 4364"/>
            </a:avLst>
          </a:prstGeom>
          <a:solidFill>
            <a:srgbClr val="EEF3F8"/>
          </a:solidFill>
          <a:ln w="12700">
            <a:solidFill>
              <a:srgbClr val="EEF3F8"/>
            </a:solidFill>
            <a:prstDash val="solid"/>
          </a:ln>
        </p:spPr>
      </p:sp>
      <p:sp>
        <p:nvSpPr>
          <p:cNvPr id="33" name="Text 31"/>
          <p:cNvSpPr txBox="1"/>
          <p:nvPr/>
        </p:nvSpPr>
        <p:spPr>
          <a:xfrm>
            <a:off x="4521098"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Chunk boundaries decide what can be found</a:t>
            </a:r>
            <a:endParaRPr lang="en-US" sz="1400" dirty="0"/>
          </a:p>
        </p:txBody>
      </p:sp>
      <p:sp>
        <p:nvSpPr>
          <p:cNvPr id="34" name="Text 32"/>
          <p:cNvSpPr txBox="1"/>
          <p:nvPr/>
        </p:nvSpPr>
        <p:spPr>
          <a:xfrm>
            <a:off x="4521098"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Fixed windows cut through sentences and drop headings. Section chunks keep the title and the heading, so a passage says what it is about.</a:t>
            </a:r>
            <a:endParaRPr lang="en-US" sz="1250" dirty="0"/>
          </a:p>
        </p:txBody>
      </p:sp>
      <p:sp>
        <p:nvSpPr>
          <p:cNvPr id="35" name="prep card 2"/>
          <p:cNvSpPr/>
          <p:nvPr/>
        </p:nvSpPr>
        <p:spPr>
          <a:xfrm>
            <a:off x="8127797" y="3063240"/>
            <a:ext cx="3515258" cy="2514600"/>
          </a:xfrm>
          <a:prstGeom prst="roundRect">
            <a:avLst>
              <a:gd name="adj" fmla="val 4364"/>
            </a:avLst>
          </a:prstGeom>
          <a:solidFill>
            <a:srgbClr val="EEF3F8"/>
          </a:solidFill>
          <a:ln w="12700">
            <a:solidFill>
              <a:srgbClr val="EEF3F8"/>
            </a:solidFill>
            <a:prstDash val="solid"/>
          </a:ln>
        </p:spPr>
      </p:sp>
      <p:sp>
        <p:nvSpPr>
          <p:cNvPr id="36" name="Text 34"/>
          <p:cNvSpPr txBox="1"/>
          <p:nvPr/>
        </p:nvSpPr>
        <p:spPr>
          <a:xfrm>
            <a:off x="8310677"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Embeddings place text by meaning</a:t>
            </a:r>
            <a:endParaRPr lang="en-US" sz="1400" dirty="0"/>
          </a:p>
        </p:txBody>
      </p:sp>
      <p:sp>
        <p:nvSpPr>
          <p:cNvPr id="37" name="Text 35"/>
          <p:cNvSpPr txBox="1"/>
          <p:nvPr/>
        </p:nvSpPr>
        <p:spPr>
          <a:xfrm>
            <a:off x="8310677"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A vector per chunk; similar meaning, nearby vectors. A small sentence-transformer model through LangChain, held in a vector store. The index is only as good as the text and metadata it was built from.</a:t>
            </a:r>
            <a:endParaRPr lang="en-US" sz="1250" dirty="0"/>
          </a:p>
        </p:txBody>
      </p:sp>
      <p:sp>
        <p:nvSpPr>
          <p:cNvPr id="38" name="Text 36"/>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250" dirty="0">
                <a:solidFill>
                  <a:srgbClr val="5B6B7C"/>
                </a:solidFill>
              </a:rPr>
              <a:t>Demonstration: notebook 02, the outdated summary's header, fixed windows against sections, and a search over a poorly prepared index against a prepared one.</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Retrieval-augmented generation</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0B4A8B"/>
          </a:solidFill>
          <a:ln w="12700">
            <a:solidFill>
              <a:srgbClr val="0B4A8B"/>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rag question"/>
          <p:cNvSpPr/>
          <p:nvPr/>
        </p:nvSpPr>
        <p:spPr>
          <a:xfrm>
            <a:off x="548640" y="2240280"/>
            <a:ext cx="1658569" cy="640080"/>
          </a:xfrm>
          <a:prstGeom prst="roundRect">
            <a:avLst>
              <a:gd name="adj" fmla="val 11429"/>
            </a:avLst>
          </a:prstGeom>
          <a:solidFill>
            <a:srgbClr val="EEF3F8"/>
          </a:solidFill>
          <a:ln w="12700">
            <a:solidFill>
              <a:srgbClr val="EEF3F8"/>
            </a:solidFill>
            <a:prstDash val="solid"/>
          </a:ln>
        </p:spPr>
      </p:sp>
      <p:sp>
        <p:nvSpPr>
          <p:cNvPr id="16" name="Text 14"/>
          <p:cNvSpPr txBox="1"/>
          <p:nvPr/>
        </p:nvSpPr>
        <p:spPr>
          <a:xfrm>
            <a:off x="548640"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question</a:t>
            </a:r>
            <a:endParaRPr lang="en-US" sz="1200" dirty="0"/>
          </a:p>
        </p:txBody>
      </p:sp>
      <p:sp>
        <p:nvSpPr>
          <p:cNvPr id="17" name="rag arrow 0"/>
          <p:cNvSpPr/>
          <p:nvPr/>
        </p:nvSpPr>
        <p:spPr>
          <a:xfrm>
            <a:off x="2225497" y="2377440"/>
            <a:ext cx="192024" cy="365760"/>
          </a:xfrm>
          <a:prstGeom prst="rightArrow">
            <a:avLst/>
          </a:prstGeom>
          <a:solidFill>
            <a:srgbClr val="C9D3DE"/>
          </a:solidFill>
          <a:ln w="12700">
            <a:solidFill>
              <a:srgbClr val="C9D3DE"/>
            </a:solidFill>
            <a:prstDash val="solid"/>
          </a:ln>
        </p:spPr>
      </p:sp>
      <p:sp>
        <p:nvSpPr>
          <p:cNvPr id="18" name="rag retriever"/>
          <p:cNvSpPr/>
          <p:nvPr/>
        </p:nvSpPr>
        <p:spPr>
          <a:xfrm>
            <a:off x="2435809" y="2240280"/>
            <a:ext cx="1658569" cy="640080"/>
          </a:xfrm>
          <a:prstGeom prst="roundRect">
            <a:avLst>
              <a:gd name="adj" fmla="val 11429"/>
            </a:avLst>
          </a:prstGeom>
          <a:solidFill>
            <a:srgbClr val="0A8F8C"/>
          </a:solidFill>
          <a:ln w="12700">
            <a:solidFill>
              <a:srgbClr val="0A8F8C"/>
            </a:solidFill>
            <a:prstDash val="solid"/>
          </a:ln>
        </p:spPr>
      </p:sp>
      <p:sp>
        <p:nvSpPr>
          <p:cNvPr id="19" name="Text 17"/>
          <p:cNvSpPr txBox="1"/>
          <p:nvPr/>
        </p:nvSpPr>
        <p:spPr>
          <a:xfrm>
            <a:off x="2435809"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retriever</a:t>
            </a:r>
            <a:endParaRPr lang="en-US" sz="1200" dirty="0"/>
          </a:p>
        </p:txBody>
      </p:sp>
      <p:sp>
        <p:nvSpPr>
          <p:cNvPr id="20" name="rag arrow 1"/>
          <p:cNvSpPr/>
          <p:nvPr/>
        </p:nvSpPr>
        <p:spPr>
          <a:xfrm>
            <a:off x="4112666" y="2377440"/>
            <a:ext cx="192024" cy="365760"/>
          </a:xfrm>
          <a:prstGeom prst="rightArrow">
            <a:avLst/>
          </a:prstGeom>
          <a:solidFill>
            <a:srgbClr val="C9D3DE"/>
          </a:solidFill>
          <a:ln w="12700">
            <a:solidFill>
              <a:srgbClr val="C9D3DE"/>
            </a:solidFill>
            <a:prstDash val="solid"/>
          </a:ln>
        </p:spPr>
      </p:sp>
      <p:sp>
        <p:nvSpPr>
          <p:cNvPr id="21" name="rag top-k passages"/>
          <p:cNvSpPr/>
          <p:nvPr/>
        </p:nvSpPr>
        <p:spPr>
          <a:xfrm>
            <a:off x="4322978" y="2240280"/>
            <a:ext cx="1658569" cy="640080"/>
          </a:xfrm>
          <a:prstGeom prst="roundRect">
            <a:avLst>
              <a:gd name="adj" fmla="val 11429"/>
            </a:avLst>
          </a:prstGeom>
          <a:solidFill>
            <a:srgbClr val="0A8F8C"/>
          </a:solidFill>
          <a:ln w="12700">
            <a:solidFill>
              <a:srgbClr val="0A8F8C"/>
            </a:solidFill>
            <a:prstDash val="solid"/>
          </a:ln>
        </p:spPr>
      </p:sp>
      <p:sp>
        <p:nvSpPr>
          <p:cNvPr id="22" name="Text 20"/>
          <p:cNvSpPr txBox="1"/>
          <p:nvPr/>
        </p:nvSpPr>
        <p:spPr>
          <a:xfrm>
            <a:off x="4322978"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top-k passages</a:t>
            </a:r>
            <a:endParaRPr lang="en-US" sz="1200" dirty="0"/>
          </a:p>
        </p:txBody>
      </p:sp>
      <p:sp>
        <p:nvSpPr>
          <p:cNvPr id="23" name="rag arrow 2"/>
          <p:cNvSpPr/>
          <p:nvPr/>
        </p:nvSpPr>
        <p:spPr>
          <a:xfrm>
            <a:off x="5999836" y="2377440"/>
            <a:ext cx="192024" cy="365760"/>
          </a:xfrm>
          <a:prstGeom prst="rightArrow">
            <a:avLst/>
          </a:prstGeom>
          <a:solidFill>
            <a:srgbClr val="C9D3DE"/>
          </a:solidFill>
          <a:ln w="12700">
            <a:solidFill>
              <a:srgbClr val="C9D3DE"/>
            </a:solidFill>
            <a:prstDash val="solid"/>
          </a:ln>
        </p:spPr>
      </p:sp>
      <p:sp>
        <p:nvSpPr>
          <p:cNvPr id="24" name="rag instructions + passages + question"/>
          <p:cNvSpPr/>
          <p:nvPr/>
        </p:nvSpPr>
        <p:spPr>
          <a:xfrm>
            <a:off x="6210148" y="2240280"/>
            <a:ext cx="1658569" cy="640080"/>
          </a:xfrm>
          <a:prstGeom prst="roundRect">
            <a:avLst>
              <a:gd name="adj" fmla="val 11429"/>
            </a:avLst>
          </a:prstGeom>
          <a:solidFill>
            <a:srgbClr val="EEF3F8"/>
          </a:solidFill>
          <a:ln w="12700">
            <a:solidFill>
              <a:srgbClr val="EEF3F8"/>
            </a:solidFill>
            <a:prstDash val="solid"/>
          </a:ln>
        </p:spPr>
      </p:sp>
      <p:sp>
        <p:nvSpPr>
          <p:cNvPr id="25" name="Text 23"/>
          <p:cNvSpPr txBox="1"/>
          <p:nvPr/>
        </p:nvSpPr>
        <p:spPr>
          <a:xfrm>
            <a:off x="6210148"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instructions + passages + question</a:t>
            </a:r>
            <a:endParaRPr lang="en-US" sz="1200" dirty="0"/>
          </a:p>
        </p:txBody>
      </p:sp>
      <p:sp>
        <p:nvSpPr>
          <p:cNvPr id="26" name="rag arrow 3"/>
          <p:cNvSpPr/>
          <p:nvPr/>
        </p:nvSpPr>
        <p:spPr>
          <a:xfrm>
            <a:off x="7887005" y="2377440"/>
            <a:ext cx="192024" cy="365760"/>
          </a:xfrm>
          <a:prstGeom prst="rightArrow">
            <a:avLst/>
          </a:prstGeom>
          <a:solidFill>
            <a:srgbClr val="C9D3DE"/>
          </a:solidFill>
          <a:ln w="12700">
            <a:solidFill>
              <a:srgbClr val="C9D3DE"/>
            </a:solidFill>
            <a:prstDash val="solid"/>
          </a:ln>
        </p:spPr>
      </p:sp>
      <p:sp>
        <p:nvSpPr>
          <p:cNvPr id="27" name="rag model"/>
          <p:cNvSpPr/>
          <p:nvPr/>
        </p:nvSpPr>
        <p:spPr>
          <a:xfrm>
            <a:off x="8097317" y="2240280"/>
            <a:ext cx="1658569" cy="640080"/>
          </a:xfrm>
          <a:prstGeom prst="roundRect">
            <a:avLst>
              <a:gd name="adj" fmla="val 11429"/>
            </a:avLst>
          </a:prstGeom>
          <a:solidFill>
            <a:srgbClr val="EEF3F8"/>
          </a:solidFill>
          <a:ln w="12700">
            <a:solidFill>
              <a:srgbClr val="EEF3F8"/>
            </a:solidFill>
            <a:prstDash val="solid"/>
          </a:ln>
        </p:spPr>
      </p:sp>
      <p:sp>
        <p:nvSpPr>
          <p:cNvPr id="28" name="Text 26"/>
          <p:cNvSpPr txBox="1"/>
          <p:nvPr/>
        </p:nvSpPr>
        <p:spPr>
          <a:xfrm>
            <a:off x="8097317"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model</a:t>
            </a:r>
            <a:endParaRPr lang="en-US" sz="1200" dirty="0"/>
          </a:p>
        </p:txBody>
      </p:sp>
      <p:sp>
        <p:nvSpPr>
          <p:cNvPr id="29" name="rag arrow 4"/>
          <p:cNvSpPr/>
          <p:nvPr/>
        </p:nvSpPr>
        <p:spPr>
          <a:xfrm>
            <a:off x="9774174" y="2377440"/>
            <a:ext cx="192024" cy="365760"/>
          </a:xfrm>
          <a:prstGeom prst="rightArrow">
            <a:avLst/>
          </a:prstGeom>
          <a:solidFill>
            <a:srgbClr val="C9D3DE"/>
          </a:solidFill>
          <a:ln w="12700">
            <a:solidFill>
              <a:srgbClr val="C9D3DE"/>
            </a:solidFill>
            <a:prstDash val="solid"/>
          </a:ln>
        </p:spPr>
      </p:sp>
      <p:sp>
        <p:nvSpPr>
          <p:cNvPr id="30" name="rag answer with citations"/>
          <p:cNvSpPr/>
          <p:nvPr/>
        </p:nvSpPr>
        <p:spPr>
          <a:xfrm>
            <a:off x="9984486" y="2240280"/>
            <a:ext cx="1658569" cy="640080"/>
          </a:xfrm>
          <a:prstGeom prst="roundRect">
            <a:avLst>
              <a:gd name="adj" fmla="val 11429"/>
            </a:avLst>
          </a:prstGeom>
          <a:solidFill>
            <a:srgbClr val="EEF3F8"/>
          </a:solidFill>
          <a:ln w="12700">
            <a:solidFill>
              <a:srgbClr val="EEF3F8"/>
            </a:solidFill>
            <a:prstDash val="solid"/>
          </a:ln>
        </p:spPr>
      </p:sp>
      <p:sp>
        <p:nvSpPr>
          <p:cNvPr id="31" name="Text 29"/>
          <p:cNvSpPr txBox="1"/>
          <p:nvPr/>
        </p:nvSpPr>
        <p:spPr>
          <a:xfrm>
            <a:off x="9984486"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answer with citations</a:t>
            </a:r>
            <a:endParaRPr lang="en-US" sz="1200" dirty="0"/>
          </a:p>
        </p:txBody>
      </p:sp>
      <p:sp>
        <p:nvSpPr>
          <p:cNvPr id="32" name="Text 30"/>
          <p:cNvSpPr txBox="1"/>
          <p:nvPr/>
        </p:nvSpPr>
        <p:spPr>
          <a:xfrm>
            <a:off x="548640" y="31546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What it gives</a:t>
            </a:r>
            <a:endParaRPr lang="en-US" sz="1500" dirty="0"/>
          </a:p>
        </p:txBody>
      </p:sp>
      <p:sp>
        <p:nvSpPr>
          <p:cNvPr id="33" name="Text 31"/>
          <p:cNvSpPr txBox="1"/>
          <p:nvPr/>
        </p:nvSpPr>
        <p:spPr>
          <a:xfrm>
            <a:off x="548640" y="3566160"/>
            <a:ext cx="566928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Answers from the collection, each figure cited to a passage with its document, section, and year</a:t>
            </a:r>
            <a:endParaRPr lang="en-US" sz="1400" dirty="0"/>
          </a:p>
          <a:p>
            <a:pPr marL="177800" indent="-177800">
              <a:spcAft>
                <a:spcPts val="500"/>
              </a:spcAft>
              <a:buSzPct val="100000"/>
              <a:buChar char="•"/>
            </a:pPr>
            <a:r>
              <a:rPr lang="en-US" sz="1400" dirty="0">
                <a:solidFill>
                  <a:srgbClr val="1F2A37"/>
                </a:solidFill>
              </a:rPr>
              <a:t>A collection of any size, with a few passages per call</a:t>
            </a:r>
            <a:endParaRPr lang="en-US" sz="1400" dirty="0"/>
          </a:p>
        </p:txBody>
      </p:sp>
      <p:sp>
        <p:nvSpPr>
          <p:cNvPr id="34" name="Text 32"/>
          <p:cNvSpPr txBox="1"/>
          <p:nvPr/>
        </p:nvSpPr>
        <p:spPr>
          <a:xfrm>
            <a:off x="548640" y="4754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Where it fails</a:t>
            </a:r>
            <a:endParaRPr lang="en-US" sz="1500" dirty="0"/>
          </a:p>
        </p:txBody>
      </p:sp>
      <p:sp>
        <p:nvSpPr>
          <p:cNvPr id="35" name="Text 33"/>
          <p:cNvSpPr txBox="1"/>
          <p:nvPr/>
        </p:nvSpPr>
        <p:spPr>
          <a:xfrm>
            <a:off x="548640" y="5166360"/>
            <a:ext cx="5669280" cy="1097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The 2016 summary ranks first for “latest available figure” and the model faithfully reports 2015</a:t>
            </a:r>
            <a:endParaRPr lang="en-US" sz="1400" dirty="0"/>
          </a:p>
          <a:p>
            <a:pPr marL="177800" indent="-177800">
              <a:spcAft>
                <a:spcPts val="500"/>
              </a:spcAft>
              <a:buSzPct val="100000"/>
              <a:buChar char="•"/>
            </a:pPr>
            <a:r>
              <a:rPr lang="en-US" sz="1400" dirty="0">
                <a:solidFill>
                  <a:srgbClr val="1F2A37"/>
                </a:solidFill>
              </a:rPr>
              <a:t>Retrieval always returns something; a question outside the collection still gets three passages</a:t>
            </a:r>
            <a:endParaRPr lang="en-US" sz="1400" dirty="0"/>
          </a:p>
        </p:txBody>
      </p:sp>
      <p:sp>
        <p:nvSpPr>
          <p:cNvPr id="36" name="fixes card"/>
          <p:cNvSpPr/>
          <p:nvPr/>
        </p:nvSpPr>
        <p:spPr>
          <a:xfrm>
            <a:off x="6675120" y="3154680"/>
            <a:ext cx="4967935" cy="3017520"/>
          </a:xfrm>
          <a:prstGeom prst="roundRect">
            <a:avLst>
              <a:gd name="adj" fmla="val 3636"/>
            </a:avLst>
          </a:prstGeom>
          <a:solidFill>
            <a:srgbClr val="D6EEEC"/>
          </a:solidFill>
          <a:ln w="12700">
            <a:solidFill>
              <a:srgbClr val="D6EEEC"/>
            </a:solidFill>
            <a:prstDash val="solid"/>
          </a:ln>
        </p:spPr>
      </p:sp>
      <p:sp>
        <p:nvSpPr>
          <p:cNvPr id="37" name="Text 35"/>
          <p:cNvSpPr txBox="1"/>
          <p:nvPr/>
        </p:nvSpPr>
        <p:spPr>
          <a:xfrm>
            <a:off x="6903720" y="3291840"/>
            <a:ext cx="4510735" cy="365760"/>
          </a:xfrm>
          <a:prstGeom prst="rect">
            <a:avLst/>
          </a:prstGeom>
          <a:noFill/>
          <a:ln/>
        </p:spPr>
        <p:txBody>
          <a:bodyPr wrap="square" lIns="0" tIns="0" rIns="0" bIns="0" rtlCol="0" anchor="t"/>
          <a:lstStyle/>
          <a:p>
            <a:pPr indent="0" marL="0">
              <a:buNone/>
            </a:pPr>
            <a:r>
              <a:rPr lang="en-US" sz="1500" b="1" dirty="0">
                <a:solidFill>
                  <a:srgbClr val="0B4A8B"/>
                </a:solidFill>
              </a:rPr>
              <a:t>Fixes live on the retrieval side</a:t>
            </a:r>
            <a:endParaRPr lang="en-US" sz="1500" dirty="0"/>
          </a:p>
        </p:txBody>
      </p:sp>
      <p:sp>
        <p:nvSpPr>
          <p:cNvPr id="38" name="Text 36"/>
          <p:cNvSpPr txBox="1"/>
          <p:nvPr/>
        </p:nvSpPr>
        <p:spPr>
          <a:xfrm>
            <a:off x="6903720" y="3703320"/>
            <a:ext cx="4510735"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A metadata filter: exclude documents dated before 2020</a:t>
            </a:r>
            <a:endParaRPr lang="en-US" sz="1300" dirty="0"/>
          </a:p>
          <a:p>
            <a:pPr marL="177800" indent="-177800">
              <a:spcAft>
                <a:spcPts val="500"/>
              </a:spcAft>
              <a:buSzPct val="100000"/>
              <a:buChar char="•"/>
            </a:pPr>
            <a:r>
              <a:rPr lang="en-US" sz="1300" dirty="0">
                <a:solidFill>
                  <a:srgbClr val="1F2A37"/>
                </a:solidFill>
              </a:rPr>
              <a:t>A recency weight in the ranking</a:t>
            </a:r>
            <a:endParaRPr lang="en-US" sz="1300" dirty="0"/>
          </a:p>
          <a:p>
            <a:pPr marL="177800" indent="-177800">
              <a:spcAft>
                <a:spcPts val="500"/>
              </a:spcAft>
              <a:buSzPct val="100000"/>
              <a:buChar char="•"/>
            </a:pPr>
            <a:r>
              <a:rPr lang="en-US" sz="1300" dirty="0">
                <a:solidFill>
                  <a:srgbClr val="1F2A37"/>
                </a:solidFill>
              </a:rPr>
              <a:t>A reformulated query: what the passage would say</a:t>
            </a:r>
            <a:endParaRPr lang="en-US" sz="1300" dirty="0"/>
          </a:p>
          <a:p>
            <a:pPr marL="177800" indent="-177800">
              <a:spcAft>
                <a:spcPts val="500"/>
              </a:spcAft>
              <a:buSzPct val="100000"/>
              <a:buChar char="•"/>
            </a:pPr>
            <a:r>
              <a:rPr lang="en-US" sz="1300" dirty="0">
                <a:solidFill>
                  <a:srgbClr val="1F2A37"/>
                </a:solidFill>
              </a:rPr>
              <a:t>A score threshold set from examples, and instructions to say when the passages do not answer</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Retrieval and generation are two problems</a:t>
            </a:r>
            <a:endParaRPr lang="en-US" sz="2800" dirty="0"/>
          </a:p>
        </p:txBody>
      </p:sp>
      <p:sp>
        <p:nvSpPr>
          <p:cNvPr id="3" name="retrieval card"/>
          <p:cNvSpPr/>
          <p:nvPr/>
        </p:nvSpPr>
        <p:spPr>
          <a:xfrm>
            <a:off x="548640" y="1325880"/>
            <a:ext cx="5486400" cy="2194560"/>
          </a:xfrm>
          <a:prstGeom prst="roundRect">
            <a:avLst>
              <a:gd name="adj" fmla="val 5000"/>
            </a:avLst>
          </a:prstGeom>
          <a:solidFill>
            <a:srgbClr val="EEF3F8"/>
          </a:solidFill>
          <a:ln w="12700">
            <a:solidFill>
              <a:srgbClr val="EEF3F8"/>
            </a:solidFill>
            <a:prstDash val="solid"/>
          </a:ln>
        </p:spPr>
      </p:sp>
      <p:sp>
        <p:nvSpPr>
          <p:cNvPr id="4" name="Text 2"/>
          <p:cNvSpPr txBox="1"/>
          <p:nvPr/>
        </p:nvSpPr>
        <p:spPr>
          <a:xfrm>
            <a:off x="777240" y="1463040"/>
            <a:ext cx="5029200" cy="365760"/>
          </a:xfrm>
          <a:prstGeom prst="rect">
            <a:avLst/>
          </a:prstGeom>
          <a:noFill/>
          <a:ln/>
        </p:spPr>
        <p:txBody>
          <a:bodyPr wrap="square" lIns="0" tIns="0" rIns="0" bIns="0" rtlCol="0" anchor="t"/>
          <a:lstStyle/>
          <a:p>
            <a:pPr indent="0" marL="0">
              <a:buNone/>
            </a:pPr>
            <a:r>
              <a:rPr lang="en-US" sz="1500" b="1" dirty="0">
                <a:solidFill>
                  <a:srgbClr val="0B4A8B"/>
                </a:solidFill>
              </a:rPr>
              <a:t>Retrieval problem</a:t>
            </a:r>
            <a:endParaRPr lang="en-US" sz="1500" dirty="0"/>
          </a:p>
        </p:txBody>
      </p:sp>
      <p:sp>
        <p:nvSpPr>
          <p:cNvPr id="5" name="Text 3"/>
          <p:cNvSpPr txBox="1"/>
          <p:nvPr/>
        </p:nvSpPr>
        <p:spPr>
          <a:xfrm>
            <a:off x="777240" y="1874520"/>
            <a:ext cx="5029200" cy="1554480"/>
          </a:xfrm>
          <a:prstGeom prst="rect">
            <a:avLst/>
          </a:prstGeom>
          <a:noFill/>
          <a:ln/>
        </p:spPr>
        <p:txBody>
          <a:bodyPr wrap="square" lIns="0" tIns="0" rIns="0" bIns="0" rtlCol="0" anchor="t"/>
          <a:lstStyle/>
          <a:p>
            <a:pPr indent="0" marL="0">
              <a:buNone/>
            </a:pPr>
            <a:r>
              <a:rPr lang="en-US" sz="1300" dirty="0">
                <a:solidFill>
                  <a:srgbClr val="1F2A37"/>
                </a:solidFill>
              </a:rPr>
              <a:t>The top-k passages do not include the evidence. Test it without a model: for each question, did the hits include an expected document? Fix with chunking, metadata, ranking, or the query.</a:t>
            </a:r>
            <a:endParaRPr lang="en-US" sz="1300" dirty="0"/>
          </a:p>
        </p:txBody>
      </p:sp>
      <p:sp>
        <p:nvSpPr>
          <p:cNvPr id="6" name="generation card"/>
          <p:cNvSpPr/>
          <p:nvPr/>
        </p:nvSpPr>
        <p:spPr>
          <a:xfrm>
            <a:off x="6400800" y="1325880"/>
            <a:ext cx="5242255" cy="2194560"/>
          </a:xfrm>
          <a:prstGeom prst="roundRect">
            <a:avLst>
              <a:gd name="adj" fmla="val 5000"/>
            </a:avLst>
          </a:prstGeom>
          <a:solidFill>
            <a:srgbClr val="EEF3F8"/>
          </a:solidFill>
          <a:ln w="12700">
            <a:solidFill>
              <a:srgbClr val="EEF3F8"/>
            </a:solidFill>
            <a:prstDash val="solid"/>
          </a:ln>
        </p:spPr>
      </p:sp>
      <p:sp>
        <p:nvSpPr>
          <p:cNvPr id="7" name="Text 5"/>
          <p:cNvSpPr txBox="1"/>
          <p:nvPr/>
        </p:nvSpPr>
        <p:spPr>
          <a:xfrm>
            <a:off x="6629400" y="1463040"/>
            <a:ext cx="4785055" cy="365760"/>
          </a:xfrm>
          <a:prstGeom prst="rect">
            <a:avLst/>
          </a:prstGeom>
          <a:noFill/>
          <a:ln/>
        </p:spPr>
        <p:txBody>
          <a:bodyPr wrap="square" lIns="0" tIns="0" rIns="0" bIns="0" rtlCol="0" anchor="t"/>
          <a:lstStyle/>
          <a:p>
            <a:pPr indent="0" marL="0">
              <a:buNone/>
            </a:pPr>
            <a:r>
              <a:rPr lang="en-US" sz="1500" b="1" dirty="0">
                <a:solidFill>
                  <a:srgbClr val="0B4A8B"/>
                </a:solidFill>
              </a:rPr>
              <a:t>Generation problem</a:t>
            </a:r>
            <a:endParaRPr lang="en-US" sz="1500" dirty="0"/>
          </a:p>
        </p:txBody>
      </p:sp>
      <p:sp>
        <p:nvSpPr>
          <p:cNvPr id="8" name="Text 6"/>
          <p:cNvSpPr txBox="1"/>
          <p:nvPr/>
        </p:nvSpPr>
        <p:spPr>
          <a:xfrm>
            <a:off x="6629400" y="1874520"/>
            <a:ext cx="4785055" cy="1554480"/>
          </a:xfrm>
          <a:prstGeom prst="rect">
            <a:avLst/>
          </a:prstGeom>
          <a:noFill/>
          <a:ln/>
        </p:spPr>
        <p:txBody>
          <a:bodyPr wrap="square" lIns="0" tIns="0" rIns="0" bIns="0" rtlCol="0" anchor="t"/>
          <a:lstStyle/>
          <a:p>
            <a:pPr indent="0" marL="0">
              <a:buNone/>
            </a:pPr>
            <a:r>
              <a:rPr lang="en-US" sz="1300" dirty="0">
                <a:solidFill>
                  <a:srgbClr val="1F2A37"/>
                </a:solidFill>
              </a:rPr>
              <a:t>The evidence was there and the answer did not use it, or used it wrongly. Fix with instructions or a different model. Testing it needs the answer, and so a model call.</a:t>
            </a:r>
            <a:endParaRPr lang="en-US" sz="1300" dirty="0"/>
          </a:p>
        </p:txBody>
      </p:sp>
      <p:sp>
        <p:nvSpPr>
          <p:cNvPr id="9" name="Text 7"/>
          <p:cNvSpPr txBox="1"/>
          <p:nvPr/>
        </p:nvSpPr>
        <p:spPr>
          <a:xfrm>
            <a:off x="548640" y="3749040"/>
            <a:ext cx="11094415" cy="118872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id   category           k=2    k=4    expected documents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q1   main               hit    hit    kenya-digital, rwanda-digital, kenya-economy, rwanda-economy</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q4   missing-data       miss   hit    kenya-digital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q8   outdated-evidence  hit    hit    kenya-digital</a:t>
            </a:r>
            <a:endParaRPr lang="en-US" sz="1100" dirty="0"/>
          </a:p>
        </p:txBody>
      </p:sp>
      <p:sp>
        <p:nvSpPr>
          <p:cNvPr id="10" name="Text 8"/>
          <p:cNvSpPr txBox="1"/>
          <p:nvPr/>
        </p:nvSpPr>
        <p:spPr>
          <a:xfrm>
            <a:off x="548640" y="5074920"/>
            <a:ext cx="11094415" cy="822960"/>
          </a:xfrm>
          <a:prstGeom prst="rect">
            <a:avLst/>
          </a:prstGeom>
          <a:noFill/>
          <a:ln/>
        </p:spPr>
        <p:txBody>
          <a:bodyPr wrap="square" lIns="0" tIns="0" rIns="0" bIns="0" rtlCol="0" anchor="t"/>
          <a:lstStyle/>
          <a:p>
            <a:pPr indent="0" marL="0">
              <a:buNone/>
            </a:pPr>
            <a:r>
              <a:rPr lang="en-US" sz="1300" dirty="0">
                <a:solidFill>
                  <a:srgbClr val="1F2A37"/>
                </a:solidFill>
              </a:rPr>
              <a:t>The retrieval table from notebook 03: eight questions, two values of k, no model called. Mixing the two problems makes both impossible to improve, because a fix for one is invisible in a metric that blends them.</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Tools: numbers come from data</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0B4A8B"/>
          </a:solidFill>
          <a:ln w="12700">
            <a:solidFill>
              <a:srgbClr val="0B4A8B"/>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Text 13"/>
          <p:cNvSpPr txBox="1"/>
          <p:nvPr/>
        </p:nvSpPr>
        <p:spPr>
          <a:xfrm>
            <a:off x="548640" y="2194560"/>
            <a:ext cx="5852160" cy="411480"/>
          </a:xfrm>
          <a:prstGeom prst="rect">
            <a:avLst/>
          </a:prstGeom>
          <a:noFill/>
          <a:ln/>
        </p:spPr>
        <p:txBody>
          <a:bodyPr wrap="square" lIns="0" tIns="0" rIns="0" bIns="0" rtlCol="0" anchor="t"/>
          <a:lstStyle/>
          <a:p>
            <a:pPr indent="0" marL="0">
              <a:buNone/>
            </a:pPr>
            <a:r>
              <a:rPr lang="en-US" sz="1500" b="1" dirty="0">
                <a:solidFill>
                  <a:srgbClr val="0B4A8B"/>
                </a:solidFill>
              </a:rPr>
              <a:t>A tool is a function with a description the model can read</a:t>
            </a:r>
            <a:endParaRPr lang="en-US" sz="1500" dirty="0"/>
          </a:p>
        </p:txBody>
      </p:sp>
      <p:sp>
        <p:nvSpPr>
          <p:cNvPr id="16" name="Text 14"/>
          <p:cNvSpPr txBox="1"/>
          <p:nvPr/>
        </p:nvSpPr>
        <p:spPr>
          <a:xfrm>
            <a:off x="548640" y="2606040"/>
            <a:ext cx="5852160" cy="914400"/>
          </a:xfrm>
          <a:prstGeom prst="rect">
            <a:avLst/>
          </a:prstGeom>
          <a:noFill/>
          <a:ln/>
        </p:spPr>
        <p:txBody>
          <a:bodyPr wrap="square" lIns="0" tIns="0" rIns="0" bIns="0" rtlCol="0" anchor="t"/>
          <a:lstStyle/>
          <a:p>
            <a:pPr indent="0" marL="0">
              <a:buNone/>
            </a:pPr>
            <a:r>
              <a:rPr lang="en-US" sz="1300" dirty="0">
                <a:solidFill>
                  <a:srgbClr val="1F2A37"/>
                </a:solidFill>
              </a:rPr>
              <a:t>The model fills the parameters from the question and asks for a call. The application runs the function and returns the result. Absence of data is a result the application can test for.</a:t>
            </a:r>
            <a:endParaRPr lang="en-US" sz="1300" dirty="0"/>
          </a:p>
        </p:txBody>
      </p:sp>
      <p:sp>
        <p:nvSpPr>
          <p:cNvPr id="17" name="Text 15"/>
          <p:cNvSpPr txBox="1"/>
          <p:nvPr/>
        </p:nvSpPr>
        <p:spPr>
          <a:xfrm>
            <a:off x="548640" y="3611880"/>
            <a:ext cx="5852160" cy="14630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get_indicator(indicator="NY.GDP.PCAP.CD", country="Rwanda", start=2023, end=2023)</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-&gt; {"name": "GDP per capita (current US$)",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"source": "World Development Indicators",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"observations": [{"year": 2023, "value": 1061.06,</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"claim_id": "NY.GDP.PCAP.CD:RWA:2023"}]}</a:t>
            </a:r>
            <a:endParaRPr lang="en-US" sz="1100" dirty="0"/>
          </a:p>
        </p:txBody>
      </p:sp>
      <p:sp>
        <p:nvSpPr>
          <p:cNvPr id="18" name="memory vs data"/>
          <p:cNvSpPr/>
          <p:nvPr/>
        </p:nvSpPr>
        <p:spPr>
          <a:xfrm>
            <a:off x="6858000" y="2194560"/>
            <a:ext cx="4785055" cy="2880360"/>
          </a:xfrm>
          <a:prstGeom prst="roundRect">
            <a:avLst>
              <a:gd name="adj" fmla="val 3810"/>
            </a:avLst>
          </a:prstGeom>
          <a:solidFill>
            <a:srgbClr val="EEF3F8"/>
          </a:solidFill>
          <a:ln w="12700">
            <a:solidFill>
              <a:srgbClr val="EEF3F8"/>
            </a:solidFill>
            <a:prstDash val="solid"/>
          </a:ln>
        </p:spPr>
      </p:sp>
      <p:sp>
        <p:nvSpPr>
          <p:cNvPr id="19" name="Text 17"/>
          <p:cNvSpPr txBox="1"/>
          <p:nvPr/>
        </p:nvSpPr>
        <p:spPr>
          <a:xfrm>
            <a:off x="7086600" y="2331720"/>
            <a:ext cx="4327855" cy="365760"/>
          </a:xfrm>
          <a:prstGeom prst="rect">
            <a:avLst/>
          </a:prstGeom>
          <a:noFill/>
          <a:ln/>
        </p:spPr>
        <p:txBody>
          <a:bodyPr wrap="square" lIns="0" tIns="0" rIns="0" bIns="0" rtlCol="0" anchor="t"/>
          <a:lstStyle/>
          <a:p>
            <a:pPr indent="0" marL="0">
              <a:buNone/>
            </a:pPr>
            <a:r>
              <a:rPr lang="en-US" sz="1500" b="1" dirty="0">
                <a:solidFill>
                  <a:srgbClr val="0B4A8B"/>
                </a:solidFill>
              </a:rPr>
              <a:t>From memory and from data</a:t>
            </a:r>
            <a:endParaRPr lang="en-US" sz="1500" dirty="0"/>
          </a:p>
        </p:txBody>
      </p:sp>
      <p:sp>
        <p:nvSpPr>
          <p:cNvPr id="20" name="Text 18"/>
          <p:cNvSpPr txBox="1"/>
          <p:nvPr/>
        </p:nvSpPr>
        <p:spPr>
          <a:xfrm>
            <a:off x="7086600" y="2743200"/>
            <a:ext cx="4327855" cy="457200"/>
          </a:xfrm>
          <a:prstGeom prst="rect">
            <a:avLst/>
          </a:prstGeom>
          <a:noFill/>
          <a:ln/>
        </p:spPr>
        <p:txBody>
          <a:bodyPr wrap="square" lIns="0" tIns="0" rIns="0" bIns="0" rtlCol="0" anchor="t"/>
          <a:lstStyle/>
          <a:p>
            <a:pPr indent="0" marL="0">
              <a:buNone/>
            </a:pPr>
            <a:r>
              <a:rPr lang="en-US" sz="1300" i="1" dirty="0">
                <a:solidFill>
                  <a:srgbClr val="C2410C"/>
                </a:solidFill>
              </a:rPr>
              <a:t>“Approximately 1,000 US dollars, please verify.”</a:t>
            </a:r>
            <a:endParaRPr lang="en-US" sz="1300" dirty="0"/>
          </a:p>
        </p:txBody>
      </p:sp>
      <p:sp>
        <p:nvSpPr>
          <p:cNvPr id="21" name="Text 19"/>
          <p:cNvSpPr txBox="1"/>
          <p:nvPr/>
        </p:nvSpPr>
        <p:spPr>
          <a:xfrm>
            <a:off x="7086600" y="3200400"/>
            <a:ext cx="4327855" cy="548640"/>
          </a:xfrm>
          <a:prstGeom prst="rect">
            <a:avLst/>
          </a:prstGeom>
          <a:noFill/>
          <a:ln/>
        </p:spPr>
        <p:txBody>
          <a:bodyPr wrap="square" lIns="0" tIns="0" rIns="0" bIns="0" rtlCol="0" anchor="t"/>
          <a:lstStyle/>
          <a:p>
            <a:pPr indent="0" marL="0">
              <a:buNone/>
            </a:pPr>
            <a:r>
              <a:rPr lang="en-US" sz="1300" i="1" dirty="0">
                <a:solidFill>
                  <a:srgbClr val="2E7D32"/>
                </a:solidFill>
              </a:rPr>
              <a:t>“1,061 US dollars in 2023, World Development Indicators, NY.GDP.PCAP.CD.”</a:t>
            </a:r>
            <a:endParaRPr lang="en-US" sz="1300" dirty="0"/>
          </a:p>
        </p:txBody>
      </p:sp>
      <p:sp>
        <p:nvSpPr>
          <p:cNvPr id="22" name="Text 20"/>
          <p:cNvSpPr txBox="1"/>
          <p:nvPr/>
        </p:nvSpPr>
        <p:spPr>
          <a:xfrm>
            <a:off x="7086600" y="3840480"/>
            <a:ext cx="4327855" cy="1188720"/>
          </a:xfrm>
          <a:prstGeom prst="rect">
            <a:avLst/>
          </a:prstGeom>
          <a:noFill/>
          <a:ln/>
        </p:spPr>
        <p:txBody>
          <a:bodyPr wrap="square" lIns="0" tIns="0" rIns="0" bIns="0" rtlCol="0" anchor="t"/>
          <a:lstStyle/>
          <a:p>
            <a:pPr indent="0" marL="0">
              <a:buNone/>
            </a:pPr>
            <a:r>
              <a:rPr lang="en-US" sz="1250" dirty="0">
                <a:solidFill>
                  <a:srgbClr val="1F2A37"/>
                </a:solidFill>
              </a:rPr>
              <a:t>The memory answer is close and hedged, with no way to tell how close. The data answer carries the indicator, the year, the source, and an identifier that the verifier will use.</a:t>
            </a:r>
            <a:endParaRPr lang="en-US" sz="1250" dirty="0"/>
          </a:p>
        </p:txBody>
      </p:sp>
      <p:sp>
        <p:nvSpPr>
          <p:cNvPr id="23" name="Text 21"/>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1300" dirty="0">
                <a:solidFill>
                  <a:srgbClr val="5B6B7C"/>
                </a:solidFill>
              </a:rPr>
              <a:t>The model's memory is for language. Statistics come from a tool over authoritative data. Demonstration: notebook 04, sections 1 to 4.</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Structured outputs and MCP</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A schema makes the answer a contract</a:t>
            </a:r>
            <a:endParaRPr lang="en-US" sz="1500" dirty="0"/>
          </a:p>
        </p:txBody>
      </p:sp>
      <p:sp>
        <p:nvSpPr>
          <p:cNvPr id="4" name="Text 2"/>
          <p:cNvSpPr txBox="1"/>
          <p:nvPr/>
        </p:nvSpPr>
        <p:spPr>
          <a:xfrm>
            <a:off x="548640" y="1737360"/>
            <a:ext cx="5669280" cy="1188720"/>
          </a:xfrm>
          <a:prstGeom prst="rect">
            <a:avLst/>
          </a:prstGeom>
          <a:noFill/>
          <a:ln/>
        </p:spPr>
        <p:txBody>
          <a:bodyPr wrap="square" lIns="0" tIns="0" rIns="0" bIns="0" rtlCol="0" anchor="t"/>
          <a:lstStyle/>
          <a:p>
            <a:pPr indent="0" marL="0">
              <a:buNone/>
            </a:pPr>
            <a:r>
              <a:rPr lang="en-US" sz="1300" dirty="0">
                <a:solidFill>
                  <a:srgbClr val="1F2A37"/>
                </a:solidFill>
              </a:rPr>
              <a:t>An answer that another program will store, display, or compare needs a fixed shape. The schema is sent with the request and the response is validated on the way back. A damaged field raises an error, so a wrong value never passes silently.</a:t>
            </a:r>
            <a:endParaRPr lang="en-US" sz="1300" dirty="0"/>
          </a:p>
        </p:txBody>
      </p:sp>
      <p:sp>
        <p:nvSpPr>
          <p:cNvPr id="5" name="Text 3"/>
          <p:cNvSpPr txBox="1"/>
          <p:nvPr/>
        </p:nvSpPr>
        <p:spPr>
          <a:xfrm>
            <a:off x="548640" y="3017520"/>
            <a:ext cx="5669280" cy="23774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class Observation(BaseModel):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indicator: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country: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year: int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value: float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claim_id: str</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class ComparisonAnswer(BaseModel):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countries: list[CountrySummary]</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comparison: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sources: list[str]</a:t>
            </a:r>
            <a:endParaRPr lang="en-US" sz="1100" dirty="0"/>
          </a:p>
        </p:txBody>
      </p:sp>
      <p:sp>
        <p:nvSpPr>
          <p:cNvPr id="6" name="Text 4"/>
          <p:cNvSpPr txBox="1"/>
          <p:nvPr/>
        </p:nvSpPr>
        <p:spPr>
          <a:xfrm>
            <a:off x="6675120" y="1325880"/>
            <a:ext cx="4967935" cy="365760"/>
          </a:xfrm>
          <a:prstGeom prst="rect">
            <a:avLst/>
          </a:prstGeom>
          <a:noFill/>
          <a:ln/>
        </p:spPr>
        <p:txBody>
          <a:bodyPr wrap="square" lIns="0" tIns="0" rIns="0" bIns="0" rtlCol="0" anchor="t"/>
          <a:lstStyle/>
          <a:p>
            <a:pPr indent="0" marL="0">
              <a:buNone/>
            </a:pPr>
            <a:r>
              <a:rPr lang="en-US" sz="1500" b="1" dirty="0">
                <a:solidFill>
                  <a:srgbClr val="0B4A8B"/>
                </a:solidFill>
              </a:rPr>
              <a:t>MCP: one server, many clients</a:t>
            </a:r>
            <a:endParaRPr lang="en-US" sz="1500" dirty="0"/>
          </a:p>
        </p:txBody>
      </p:sp>
      <p:sp>
        <p:nvSpPr>
          <p:cNvPr id="7" name="Text 5"/>
          <p:cNvSpPr txBox="1"/>
          <p:nvPr/>
        </p:nvSpPr>
        <p:spPr>
          <a:xfrm>
            <a:off x="6675120" y="1737360"/>
            <a:ext cx="4967935" cy="1554480"/>
          </a:xfrm>
          <a:prstGeom prst="rect">
            <a:avLst/>
          </a:prstGeom>
          <a:noFill/>
          <a:ln/>
        </p:spPr>
        <p:txBody>
          <a:bodyPr wrap="square" lIns="0" tIns="0" rIns="0" bIns="0" rtlCol="0" anchor="t"/>
          <a:lstStyle/>
          <a:p>
            <a:pPr indent="0" marL="0">
              <a:buNone/>
            </a:pPr>
            <a:r>
              <a:rPr lang="en-US" sz="1300" dirty="0">
                <a:solidFill>
                  <a:srgbClr val="1F2A37"/>
                </a:solidFill>
              </a:rPr>
              <a:t>The Model Context Protocol is a standard for exposing tools like get_indicator to any AI client. Notebook 04 serves the tool with FastMCP in a dozen lines and calls it back through the FastMCP client. The program's Data360 MCP server exposes search, metadata, and data tools over the World Bank data platform; a desktop assistant, the Data AI Chatbot, or a notebook call the same tools.</a:t>
            </a:r>
            <a:endParaRPr lang="en-US" sz="1300" dirty="0"/>
          </a:p>
        </p:txBody>
      </p:sp>
      <p:sp>
        <p:nvSpPr>
          <p:cNvPr id="8" name="mcp server"/>
          <p:cNvSpPr/>
          <p:nvPr/>
        </p:nvSpPr>
        <p:spPr>
          <a:xfrm>
            <a:off x="6675120" y="3383280"/>
            <a:ext cx="4967935" cy="548640"/>
          </a:xfrm>
          <a:prstGeom prst="roundRect">
            <a:avLst>
              <a:gd name="adj" fmla="val 13333"/>
            </a:avLst>
          </a:prstGeom>
          <a:solidFill>
            <a:srgbClr val="0A8F8C"/>
          </a:solidFill>
          <a:ln w="12700">
            <a:solidFill>
              <a:srgbClr val="0A8F8C"/>
            </a:solidFill>
            <a:prstDash val="solid"/>
          </a:ln>
        </p:spPr>
      </p:sp>
      <p:sp>
        <p:nvSpPr>
          <p:cNvPr id="9" name="Text 7"/>
          <p:cNvSpPr txBox="1"/>
          <p:nvPr/>
        </p:nvSpPr>
        <p:spPr>
          <a:xfrm>
            <a:off x="6675120" y="3383280"/>
            <a:ext cx="4967935"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Data360 MCP server  ·  search · metadata · data</a:t>
            </a:r>
            <a:endParaRPr lang="en-US" sz="1200" dirty="0"/>
          </a:p>
        </p:txBody>
      </p:sp>
      <p:sp>
        <p:nvSpPr>
          <p:cNvPr id="10" name="client Desktop assistant"/>
          <p:cNvSpPr/>
          <p:nvPr/>
        </p:nvSpPr>
        <p:spPr>
          <a:xfrm>
            <a:off x="6675120" y="4343400"/>
            <a:ext cx="1139114" cy="548640"/>
          </a:xfrm>
          <a:prstGeom prst="roundRect">
            <a:avLst>
              <a:gd name="adj" fmla="val 13333"/>
            </a:avLst>
          </a:prstGeom>
          <a:solidFill>
            <a:srgbClr val="EEF3F8"/>
          </a:solidFill>
          <a:ln w="12700">
            <a:solidFill>
              <a:srgbClr val="EEF3F8"/>
            </a:solidFill>
            <a:prstDash val="solid"/>
          </a:ln>
        </p:spPr>
      </p:sp>
      <p:sp>
        <p:nvSpPr>
          <p:cNvPr id="11" name="Text 9"/>
          <p:cNvSpPr txBox="1"/>
          <p:nvPr/>
        </p:nvSpPr>
        <p:spPr>
          <a:xfrm>
            <a:off x="6675120"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Desktop assistant</a:t>
            </a:r>
            <a:endParaRPr lang="en-US" sz="1200" dirty="0"/>
          </a:p>
        </p:txBody>
      </p:sp>
      <p:sp>
        <p:nvSpPr>
          <p:cNvPr id="12" name="client Data AI Chatbot"/>
          <p:cNvSpPr/>
          <p:nvPr/>
        </p:nvSpPr>
        <p:spPr>
          <a:xfrm>
            <a:off x="7951394" y="4343400"/>
            <a:ext cx="1139114" cy="548640"/>
          </a:xfrm>
          <a:prstGeom prst="roundRect">
            <a:avLst>
              <a:gd name="adj" fmla="val 13333"/>
            </a:avLst>
          </a:prstGeom>
          <a:solidFill>
            <a:srgbClr val="EEF3F8"/>
          </a:solidFill>
          <a:ln w="12700">
            <a:solidFill>
              <a:srgbClr val="EEF3F8"/>
            </a:solidFill>
            <a:prstDash val="solid"/>
          </a:ln>
        </p:spPr>
      </p:sp>
      <p:sp>
        <p:nvSpPr>
          <p:cNvPr id="13" name="Text 11"/>
          <p:cNvSpPr txBox="1"/>
          <p:nvPr/>
        </p:nvSpPr>
        <p:spPr>
          <a:xfrm>
            <a:off x="7951394"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Data AI Chatbot</a:t>
            </a:r>
            <a:endParaRPr lang="en-US" sz="1200" dirty="0"/>
          </a:p>
        </p:txBody>
      </p:sp>
      <p:sp>
        <p:nvSpPr>
          <p:cNvPr id="14" name="client A notebook"/>
          <p:cNvSpPr/>
          <p:nvPr/>
        </p:nvSpPr>
        <p:spPr>
          <a:xfrm>
            <a:off x="9227668" y="4343400"/>
            <a:ext cx="1139114" cy="548640"/>
          </a:xfrm>
          <a:prstGeom prst="roundRect">
            <a:avLst>
              <a:gd name="adj" fmla="val 13333"/>
            </a:avLst>
          </a:prstGeom>
          <a:solidFill>
            <a:srgbClr val="EEF3F8"/>
          </a:solidFill>
          <a:ln w="12700">
            <a:solidFill>
              <a:srgbClr val="EEF3F8"/>
            </a:solidFill>
            <a:prstDash val="solid"/>
          </a:ln>
        </p:spPr>
      </p:sp>
      <p:sp>
        <p:nvSpPr>
          <p:cNvPr id="15" name="Text 13"/>
          <p:cNvSpPr txBox="1"/>
          <p:nvPr/>
        </p:nvSpPr>
        <p:spPr>
          <a:xfrm>
            <a:off x="9227668"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A notebook</a:t>
            </a:r>
            <a:endParaRPr lang="en-US" sz="1200" dirty="0"/>
          </a:p>
        </p:txBody>
      </p:sp>
      <p:sp>
        <p:nvSpPr>
          <p:cNvPr id="16" name="client An agent"/>
          <p:cNvSpPr/>
          <p:nvPr/>
        </p:nvSpPr>
        <p:spPr>
          <a:xfrm>
            <a:off x="10503941" y="4343400"/>
            <a:ext cx="1139114" cy="548640"/>
          </a:xfrm>
          <a:prstGeom prst="roundRect">
            <a:avLst>
              <a:gd name="adj" fmla="val 13333"/>
            </a:avLst>
          </a:prstGeom>
          <a:solidFill>
            <a:srgbClr val="EEF3F8"/>
          </a:solidFill>
          <a:ln w="12700">
            <a:solidFill>
              <a:srgbClr val="EEF3F8"/>
            </a:solidFill>
            <a:prstDash val="solid"/>
          </a:ln>
        </p:spPr>
      </p:sp>
      <p:sp>
        <p:nvSpPr>
          <p:cNvPr id="17" name="Text 15"/>
          <p:cNvSpPr txBox="1"/>
          <p:nvPr/>
        </p:nvSpPr>
        <p:spPr>
          <a:xfrm>
            <a:off x="10503941"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An agent</a:t>
            </a:r>
            <a:endParaRPr lang="en-US" sz="1200" dirty="0"/>
          </a:p>
        </p:txBody>
      </p:sp>
      <p:sp>
        <p:nvSpPr>
          <p:cNvPr id="18" name="Text 16"/>
          <p:cNvSpPr txBox="1"/>
          <p:nvPr/>
        </p:nvSpPr>
        <p:spPr>
          <a:xfrm>
            <a:off x="6675120" y="5029200"/>
            <a:ext cx="4967935" cy="640080"/>
          </a:xfrm>
          <a:prstGeom prst="rect">
            <a:avLst/>
          </a:prstGeom>
          <a:noFill/>
          <a:ln/>
        </p:spPr>
        <p:txBody>
          <a:bodyPr wrap="square" lIns="0" tIns="0" rIns="0" bIns="0" rtlCol="0" anchor="t"/>
          <a:lstStyle/>
          <a:p>
            <a:pPr indent="0" marL="0">
              <a:buNone/>
            </a:pPr>
            <a:r>
              <a:rPr lang="en-US" sz="1250" dirty="0">
                <a:solidFill>
                  <a:srgbClr val="5B6B7C"/>
                </a:solidFill>
              </a:rPr>
              <a:t>The notebook lists the Data360 server's sixteen tools and runs one search live, with a guard for offline sessions.</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Which technique solves which problem</a:t>
            </a:r>
            <a:endParaRPr lang="en-US" sz="2800" dirty="0"/>
          </a:p>
        </p:txBody>
      </p:sp>
      <p:graphicFrame>
        <p:nvGraphicFramePr>
          <p:cNvPr id="13" name="decisi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754880"/>
                <a:gridCol w="5029200"/>
                <a:gridCol w="1307592"/>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model's behaviour must be consistent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answer must come from specific documents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Context, prepared knowledge, retrieval</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 to 03</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answer needs exact, current statistics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data tool called by the model</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Other software must read the answer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structured output with a schema</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Several steps or several tools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workflow in code, or a bounded loop</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Readers need to trust the numbers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Claims and verification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application must keep working after changes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An evaluation suite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4" name="Text 1"/>
          <p:cNvSpPr txBox="1"/>
          <p:nvPr/>
        </p:nvSpPr>
        <p:spPr>
          <a:xfrm>
            <a:off x="548640" y="5029200"/>
            <a:ext cx="11094415" cy="731520"/>
          </a:xfrm>
          <a:prstGeom prst="rect">
            <a:avLst/>
          </a:prstGeom>
          <a:noFill/>
          <a:ln/>
        </p:spPr>
        <p:txBody>
          <a:bodyPr wrap="square" lIns="0" tIns="0" rIns="0" bIns="0" rtlCol="0" anchor="t"/>
          <a:lstStyle/>
          <a:p>
            <a:pPr indent="0" marL="0">
              <a:buNone/>
            </a:pPr>
            <a:r>
              <a:rPr lang="en-US" sz="1400" dirty="0">
                <a:solidFill>
                  <a:srgbClr val="1F2A37"/>
                </a:solidFill>
              </a:rPr>
              <a:t>The techniques combine. An application for research or data typically uses instructions, retrieval, one or two tools, and a suite. Few need a general agent.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Workflows and agents</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0B4A8B"/>
          </a:solidFill>
          <a:ln w="12700">
            <a:solidFill>
              <a:srgbClr val="0B4A8B"/>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fixed card"/>
          <p:cNvSpPr/>
          <p:nvPr/>
        </p:nvSpPr>
        <p:spPr>
          <a:xfrm>
            <a:off x="548640" y="2194560"/>
            <a:ext cx="5364328" cy="2743200"/>
          </a:xfrm>
          <a:prstGeom prst="roundRect">
            <a:avLst>
              <a:gd name="adj" fmla="val 4000"/>
            </a:avLst>
          </a:prstGeom>
          <a:solidFill>
            <a:srgbClr val="EEF3F8"/>
          </a:solidFill>
          <a:ln w="12700">
            <a:solidFill>
              <a:srgbClr val="EEF3F8"/>
            </a:solidFill>
            <a:prstDash val="solid"/>
          </a:ln>
        </p:spPr>
      </p:sp>
      <p:sp>
        <p:nvSpPr>
          <p:cNvPr id="16" name="Text 14"/>
          <p:cNvSpPr txBox="1"/>
          <p:nvPr/>
        </p:nvSpPr>
        <p:spPr>
          <a:xfrm>
            <a:off x="777240" y="2331720"/>
            <a:ext cx="4907128" cy="365760"/>
          </a:xfrm>
          <a:prstGeom prst="rect">
            <a:avLst/>
          </a:prstGeom>
          <a:noFill/>
          <a:ln/>
        </p:spPr>
        <p:txBody>
          <a:bodyPr wrap="square" lIns="0" tIns="0" rIns="0" bIns="0" rtlCol="0" anchor="t"/>
          <a:lstStyle/>
          <a:p>
            <a:pPr indent="0" marL="0">
              <a:buNone/>
            </a:pPr>
            <a:r>
              <a:rPr lang="en-US" sz="1500" b="1" dirty="0">
                <a:solidFill>
                  <a:srgbClr val="0B4A8B"/>
                </a:solidFill>
              </a:rPr>
              <a:t>A fixed workflow</a:t>
            </a:r>
            <a:endParaRPr lang="en-US" sz="1500" dirty="0"/>
          </a:p>
        </p:txBody>
      </p:sp>
      <p:sp>
        <p:nvSpPr>
          <p:cNvPr id="17" name="Text 15"/>
          <p:cNvSpPr txBox="1"/>
          <p:nvPr/>
        </p:nvSpPr>
        <p:spPr>
          <a:xfrm>
            <a:off x="777240" y="2743200"/>
            <a:ext cx="4907128" cy="1188720"/>
          </a:xfrm>
          <a:prstGeom prst="rect">
            <a:avLst/>
          </a:prstGeom>
          <a:noFill/>
          <a:ln/>
        </p:spPr>
        <p:txBody>
          <a:bodyPr wrap="square" lIns="0" tIns="0" rIns="0" bIns="0" rtlCol="0" anchor="t"/>
          <a:lstStyle/>
          <a:p>
            <a:pPr indent="0" marL="0">
              <a:buNone/>
            </a:pPr>
            <a:r>
              <a:rPr lang="en-US" sz="1300" dirty="0">
                <a:solidFill>
                  <a:srgbClr val="1F2A37"/>
                </a:solidFill>
              </a:rPr>
              <a:t>The order of calls is written in code: search, fetch four series, compose. The model is called once, to write. Every run makes the same calls. Predictable, testable, cheap.</a:t>
            </a:r>
            <a:endParaRPr lang="en-US" sz="1300" dirty="0"/>
          </a:p>
        </p:txBody>
      </p:sp>
      <p:sp>
        <p:nvSpPr>
          <p:cNvPr id="18" name="Text 16"/>
          <p:cNvSpPr txBox="1"/>
          <p:nvPr/>
        </p:nvSpPr>
        <p:spPr>
          <a:xfrm>
            <a:off x="777240" y="3931920"/>
            <a:ext cx="4907128" cy="86868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passages = search_documents.invoke({"query": question})</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series   = [indicator_lookup(i, c) for i, c in PAIRS]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answer   = (prompt | model).invoke({...})</a:t>
            </a:r>
            <a:endParaRPr lang="en-US" sz="1100" dirty="0"/>
          </a:p>
        </p:txBody>
      </p:sp>
      <p:sp>
        <p:nvSpPr>
          <p:cNvPr id="19" name="agent card"/>
          <p:cNvSpPr/>
          <p:nvPr/>
        </p:nvSpPr>
        <p:spPr>
          <a:xfrm>
            <a:off x="6278728" y="2194560"/>
            <a:ext cx="5364328" cy="2743200"/>
          </a:xfrm>
          <a:prstGeom prst="roundRect">
            <a:avLst>
              <a:gd name="adj" fmla="val 4000"/>
            </a:avLst>
          </a:prstGeom>
          <a:solidFill>
            <a:srgbClr val="EEF3F8"/>
          </a:solidFill>
          <a:ln w="12700">
            <a:solidFill>
              <a:srgbClr val="EEF3F8"/>
            </a:solidFill>
            <a:prstDash val="solid"/>
          </a:ln>
        </p:spPr>
      </p:sp>
      <p:sp>
        <p:nvSpPr>
          <p:cNvPr id="20" name="Text 18"/>
          <p:cNvSpPr txBox="1"/>
          <p:nvPr/>
        </p:nvSpPr>
        <p:spPr>
          <a:xfrm>
            <a:off x="6507328" y="2331720"/>
            <a:ext cx="4907128" cy="365760"/>
          </a:xfrm>
          <a:prstGeom prst="rect">
            <a:avLst/>
          </a:prstGeom>
          <a:noFill/>
          <a:ln/>
        </p:spPr>
        <p:txBody>
          <a:bodyPr wrap="square" lIns="0" tIns="0" rIns="0" bIns="0" rtlCol="0" anchor="t"/>
          <a:lstStyle/>
          <a:p>
            <a:pPr indent="0" marL="0">
              <a:buNone/>
            </a:pPr>
            <a:r>
              <a:rPr lang="en-US" sz="1500" b="1" dirty="0">
                <a:solidFill>
                  <a:srgbClr val="0B4A8B"/>
                </a:solidFill>
              </a:rPr>
              <a:t>A model-directed loop</a:t>
            </a:r>
            <a:endParaRPr lang="en-US" sz="1500" dirty="0"/>
          </a:p>
        </p:txBody>
      </p:sp>
      <p:sp>
        <p:nvSpPr>
          <p:cNvPr id="21" name="Text 19"/>
          <p:cNvSpPr txBox="1"/>
          <p:nvPr/>
        </p:nvSpPr>
        <p:spPr>
          <a:xfrm>
            <a:off x="6507328" y="2743200"/>
            <a:ext cx="4907128" cy="1188720"/>
          </a:xfrm>
          <a:prstGeom prst="rect">
            <a:avLst/>
          </a:prstGeom>
          <a:noFill/>
          <a:ln/>
        </p:spPr>
        <p:txBody>
          <a:bodyPr wrap="square" lIns="0" tIns="0" rIns="0" bIns="0" rtlCol="0" anchor="t"/>
          <a:lstStyle/>
          <a:p>
            <a:pPr indent="0" marL="0">
              <a:buNone/>
            </a:pPr>
            <a:r>
              <a:rPr lang="en-US" sz="1300" dirty="0">
                <a:solidFill>
                  <a:srgbClr val="1F2A37"/>
                </a:solidFill>
              </a:rPr>
              <a:t>The tools are offered with their schemas; the model chooses which to call and when to stop. Adapts to questions the designer did not anticipate, and can choose wrongly.</a:t>
            </a:r>
            <a:endParaRPr lang="en-US" sz="1300" dirty="0"/>
          </a:p>
        </p:txBody>
      </p:sp>
      <p:sp>
        <p:nvSpPr>
          <p:cNvPr id="22" name="Text 20"/>
          <p:cNvSpPr txBox="1"/>
          <p:nvPr/>
        </p:nvSpPr>
        <p:spPr>
          <a:xfrm>
            <a:off x="6507328" y="3931920"/>
            <a:ext cx="4907128" cy="86868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agent = create_agent(model, tools, system_prompt=...)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result = agent.invoke({"messages": [question]},</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config={"recursion_limit": 10})</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LangGraph runs the loop; the messages are the trace</a:t>
            </a:r>
            <a:endParaRPr lang="en-US" sz="1100" dirty="0"/>
          </a:p>
        </p:txBody>
      </p:sp>
      <p:sp>
        <p:nvSpPr>
          <p:cNvPr id="23" name="Text 21"/>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300" dirty="0">
                <a:solidFill>
                  <a:srgbClr val="1F2A37"/>
                </a:solidFill>
              </a:rPr>
              <a:t>Three controls for the loop: a recursion limit, the message trace of every call and result, and tools that return errors as data so that the model can retry. Demonstration: notebook 05, an out-of-scope question, a failed call, and the limit.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Choosing between a workflow and an agent</a:t>
            </a:r>
            <a:endParaRPr lang="en-US" sz="2800" dirty="0"/>
          </a:p>
        </p:txBody>
      </p:sp>
      <p:graphicFrame>
        <p:nvGraphicFramePr>
          <p:cNvPr id="15" name="workflow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560320"/>
                <a:gridCol w="4206240"/>
                <a:gridCol w="4325112"/>
              </a:tblGrid>
              <a:tr h="457200">
                <a:tc>
                  <a:txBody>
                    <a:bodyPr/>
                    <a:lstStyle/>
                    <a:p>
                      <a:pPr indent="0" marL="0">
                        <a:buNone/>
                      </a:pP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workflow</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Model-directed loop</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Calls per run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Known in advance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Varies with the question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A new kind of question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Same calls, possibly irrelevant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Adapts, possibly wrongly</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Predictable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Bounded by the step limit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Test the composer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Test the trace and the answer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Use when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questions have one shape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questions vary and the tools are few and safe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4" name="Text 1"/>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1400" dirty="0">
                <a:solidFill>
                  <a:srgbClr val="1F2A37"/>
                </a:solidFill>
              </a:rPr>
              <a:t>The worked example has one shape, so the fixed workflow is the right design for it. A loop earns its place when users ask questions the designer did not anticipate, and only with a step limit, a trace, and tools that fail as data. Prefer the simplest design that completes the task reliably.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Verification: every number checked against its record</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0B4A8B"/>
          </a:solidFill>
          <a:ln w="12700">
            <a:solidFill>
              <a:srgbClr val="0B4A8B"/>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sp>
        <p:nvSpPr>
          <p:cNvPr id="15" name="Text 13"/>
          <p:cNvSpPr txBox="1"/>
          <p:nvPr/>
        </p:nvSpPr>
        <p:spPr>
          <a:xfrm>
            <a:off x="548640" y="2194560"/>
            <a:ext cx="5852160" cy="365760"/>
          </a:xfrm>
          <a:prstGeom prst="rect">
            <a:avLst/>
          </a:prstGeom>
          <a:noFill/>
          <a:ln/>
        </p:spPr>
        <p:txBody>
          <a:bodyPr wrap="square" lIns="0" tIns="0" rIns="0" bIns="0" rtlCol="0" anchor="t"/>
          <a:lstStyle/>
          <a:p>
            <a:pPr indent="0" marL="0">
              <a:buNone/>
            </a:pPr>
            <a:r>
              <a:rPr lang="en-US" sz="1500" b="1" dirty="0">
                <a:solidFill>
                  <a:srgbClr val="0B4A8B"/>
                </a:solidFill>
              </a:rPr>
              <a:t>Claim tags</a:t>
            </a:r>
            <a:endParaRPr lang="en-US" sz="1500" dirty="0"/>
          </a:p>
        </p:txBody>
      </p:sp>
      <p:sp>
        <p:nvSpPr>
          <p:cNvPr id="16" name="Text 14"/>
          <p:cNvSpPr txBox="1"/>
          <p:nvPr/>
        </p:nvSpPr>
        <p:spPr>
          <a:xfrm>
            <a:off x="548640" y="2606040"/>
            <a:ext cx="5852160" cy="914400"/>
          </a:xfrm>
          <a:prstGeom prst="rect">
            <a:avLst/>
          </a:prstGeom>
          <a:noFill/>
          <a:ln/>
        </p:spPr>
        <p:txBody>
          <a:bodyPr wrap="square" lIns="0" tIns="0" rIns="0" bIns="0" rtlCol="0" anchor="t"/>
          <a:lstStyle/>
          <a:p>
            <a:pPr indent="0" marL="0">
              <a:buNone/>
            </a:pPr>
            <a:r>
              <a:rPr lang="en-US" sz="1300" dirty="0">
                <a:solidFill>
                  <a:srgbClr val="1F2A37"/>
                </a:solidFill>
              </a:rPr>
              <a:t>The model writes each figure inside a tag that names the observation it came from. A verifier compares the number shown with the record under a policy: rounded to the stated decimals, or exact.</a:t>
            </a:r>
            <a:endParaRPr lang="en-US" sz="1300" dirty="0"/>
          </a:p>
        </p:txBody>
      </p:sp>
      <p:sp>
        <p:nvSpPr>
          <p:cNvPr id="17" name="Text 15"/>
          <p:cNvSpPr txBox="1"/>
          <p:nvPr/>
        </p:nvSpPr>
        <p:spPr>
          <a:xfrm>
            <a:off x="548640" y="3566160"/>
            <a:ext cx="5852160" cy="73152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&lt;claim id="IT.NET.USER.ZS:KEN:2024" policy="rounded"</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decimals="1"&gt;35.0&lt;/claim&gt; percent</a:t>
            </a:r>
            <a:endParaRPr lang="en-US" sz="1100" dirty="0"/>
          </a:p>
        </p:txBody>
      </p:sp>
      <p:sp>
        <p:nvSpPr>
          <p:cNvPr id="18" name="Text 16"/>
          <p:cNvSpPr txBox="1"/>
          <p:nvPr/>
        </p:nvSpPr>
        <p:spPr>
          <a:xfrm>
            <a:off x="548640" y="4434840"/>
            <a:ext cx="5852160" cy="640080"/>
          </a:xfrm>
          <a:prstGeom prst="rect">
            <a:avLst/>
          </a:prstGeom>
          <a:noFill/>
          <a:ln/>
        </p:spPr>
        <p:txBody>
          <a:bodyPr wrap="square" lIns="0" tIns="0" rIns="0" bIns="0" rtlCol="0" anchor="t"/>
          <a:lstStyle/>
          <a:p>
            <a:pPr indent="0" marL="0">
              <a:buNone/>
            </a:pPr>
            <a:r>
              <a:rPr lang="en-US" sz="1250" dirty="0">
                <a:solidFill>
                  <a:srgbClr val="5B6B7C"/>
                </a:solidFill>
              </a:rPr>
              <a:t>This is the Proof-Carrying Numbers protocol used in the program's chatbot; the notebook compares with the same pcn-core code.</a:t>
            </a:r>
            <a:endParaRPr lang="en-US" sz="1250" dirty="0"/>
          </a:p>
        </p:txBody>
      </p:sp>
      <p:sp>
        <p:nvSpPr>
          <p:cNvPr id="19" name="Text 17"/>
          <p:cNvSpPr txBox="1"/>
          <p:nvPr/>
        </p:nvSpPr>
        <p:spPr>
          <a:xfrm>
            <a:off x="6858000" y="2194560"/>
            <a:ext cx="4785055" cy="1371600"/>
          </a:xfrm>
          <a:prstGeom prst="rect">
            <a:avLst/>
          </a:prstGeom>
          <a:solidFill>
            <a:srgbClr val="EEF3F8"/>
          </a:solidFill>
          <a:ln/>
        </p:spPr>
        <p:txBody>
          <a:bodyPr wrap="square" lIns="1270" tIns="1270" rIns="1270" bIns="1270" rtlCol="0" anchor="t"/>
          <a:lstStyle/>
          <a:p>
            <a:pPr indent="0" marL="0">
              <a:buNone/>
            </a:pPr>
            <a:r>
              <a:rPr lang="en-US" sz="1050" dirty="0">
                <a:solidFill>
                  <a:srgbClr val="1F2A37"/>
                </a:solidFill>
                <a:latin typeface="Courier New" pitchFamily="34" charset="0"/>
                <a:ea typeface="Courier New" pitchFamily="34" charset="-122"/>
                <a:cs typeface="Courier New" pitchFamily="34" charset="-120"/>
              </a:rPr>
              <a:t>✓ verified   35.0  IT.NET.USER.ZS:KEN:2024  holds 34.98</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flagged    35.7  IT.NET.USER.ZS:RWA:2024  holds 31.70</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verified  2,133  NY.GDP.PCAP.CD:KEN:2024  holds 2133.46</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unmarked     70                           no claim tag</a:t>
            </a:r>
            <a:endParaRPr lang="en-US" sz="1050" dirty="0"/>
          </a:p>
        </p:txBody>
      </p:sp>
      <p:sp>
        <p:nvSpPr>
          <p:cNvPr id="20" name="Text 18"/>
          <p:cNvSpPr txBox="1"/>
          <p:nvPr/>
        </p:nvSpPr>
        <p:spPr>
          <a:xfrm>
            <a:off x="6858000" y="3703320"/>
            <a:ext cx="4785055"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Verified: the number matches its record</a:t>
            </a:r>
            <a:endParaRPr lang="en-US" sz="1300" dirty="0"/>
          </a:p>
          <a:p>
            <a:pPr marL="177800" indent="-177800">
              <a:spcAft>
                <a:spcPts val="500"/>
              </a:spcAft>
              <a:buSzPct val="100000"/>
              <a:buChar char="•"/>
            </a:pPr>
            <a:r>
              <a:rPr lang="en-US" sz="1300" dirty="0">
                <a:solidFill>
                  <a:srgbClr val="1F2A37"/>
                </a:solidFill>
              </a:rPr>
              <a:t>Flagged: the model changed a number</a:t>
            </a:r>
            <a:endParaRPr lang="en-US" sz="1300" dirty="0"/>
          </a:p>
          <a:p>
            <a:pPr marL="177800" indent="-177800">
              <a:spcAft>
                <a:spcPts val="500"/>
              </a:spcAft>
              <a:buSzPct val="100000"/>
              <a:buChar char="•"/>
            </a:pPr>
            <a:r>
              <a:rPr lang="en-US" sz="1300" dirty="0">
                <a:solidFill>
                  <a:srgbClr val="1F2A37"/>
                </a:solidFill>
              </a:rPr>
              <a:t>Unmarked: no claim, so no mark, whether or not the number happens to be right. The rule fails closed.</a:t>
            </a:r>
            <a:endParaRPr lang="en-US" sz="1300" dirty="0"/>
          </a:p>
        </p:txBody>
      </p:sp>
      <p:sp>
        <p:nvSpPr>
          <p:cNvPr id="21" name="Text 19"/>
          <p:cNvSpPr txBox="1"/>
          <p:nvPr/>
        </p:nvSpPr>
        <p:spPr>
          <a:xfrm>
            <a:off x="548640" y="5212080"/>
            <a:ext cx="11094415" cy="731520"/>
          </a:xfrm>
          <a:prstGeom prst="rect">
            <a:avLst/>
          </a:prstGeom>
          <a:noFill/>
          <a:ln/>
        </p:spPr>
        <p:txBody>
          <a:bodyPr wrap="square" lIns="0" tIns="0" rIns="0" bIns="0" rtlCol="0" anchor="t"/>
          <a:lstStyle/>
          <a:p>
            <a:pPr indent="0" marL="0">
              <a:buNone/>
            </a:pPr>
            <a:r>
              <a:rPr lang="en-US" sz="1300" dirty="0">
                <a:solidFill>
                  <a:srgbClr val="1F2A37"/>
                </a:solidFill>
              </a:rPr>
              <a:t>What the check leaves to the reader: whether the record is the right one for the question, whether the method behind it is sound, and whether the sentence around the number interprets it correctly.</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Evaluation: the application measured across questions</a:t>
            </a:r>
            <a:endParaRPr lang="en-US" sz="2800" dirty="0"/>
          </a:p>
        </p:txBody>
      </p:sp>
      <p:sp>
        <p:nvSpPr>
          <p:cNvPr id="3" name="Text 1"/>
          <p:cNvSpPr txBox="1"/>
          <p:nvPr/>
        </p:nvSpPr>
        <p:spPr>
          <a:xfrm>
            <a:off x="548640" y="1325880"/>
            <a:ext cx="5303520" cy="365760"/>
          </a:xfrm>
          <a:prstGeom prst="rect">
            <a:avLst/>
          </a:prstGeom>
          <a:noFill/>
          <a:ln/>
        </p:spPr>
        <p:txBody>
          <a:bodyPr wrap="square" lIns="0" tIns="0" rIns="0" bIns="0" rtlCol="0" anchor="t"/>
          <a:lstStyle/>
          <a:p>
            <a:pPr indent="0" marL="0">
              <a:buNone/>
            </a:pPr>
            <a:r>
              <a:rPr lang="en-US" sz="1500" b="1" dirty="0">
                <a:solidFill>
                  <a:srgbClr val="0B4A8B"/>
                </a:solidFill>
              </a:rPr>
              <a:t>The suite</a:t>
            </a:r>
            <a:endParaRPr lang="en-US" sz="1500" dirty="0"/>
          </a:p>
        </p:txBody>
      </p:sp>
      <p:sp>
        <p:nvSpPr>
          <p:cNvPr id="4" name="Text 2"/>
          <p:cNvSpPr txBox="1"/>
          <p:nvPr/>
        </p:nvSpPr>
        <p:spPr>
          <a:xfrm>
            <a:off x="548640" y="1737360"/>
            <a:ext cx="530352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Eight questions with expected documents, expected numbers, and expected behaviour</a:t>
            </a:r>
            <a:endParaRPr lang="en-US" sz="1300" dirty="0"/>
          </a:p>
          <a:p>
            <a:pPr marL="177800" indent="-177800">
              <a:spcAft>
                <a:spcPts val="500"/>
              </a:spcAft>
              <a:buSzPct val="100000"/>
              <a:buChar char="•"/>
            </a:pPr>
            <a:r>
              <a:rPr lang="en-US" sz="1300" dirty="0">
                <a:solidFill>
                  <a:srgbClr val="1F2A37"/>
                </a:solidFill>
              </a:rPr>
              <a:t>Categories: main, factual, ambiguous, missing data, out of scope, definition, outdated evidence</a:t>
            </a:r>
            <a:endParaRPr lang="en-US" sz="1300" dirty="0"/>
          </a:p>
          <a:p>
            <a:pPr marL="177800" indent="-177800">
              <a:spcAft>
                <a:spcPts val="500"/>
              </a:spcAft>
              <a:buSzPct val="100000"/>
              <a:buChar char="•"/>
            </a:pPr>
            <a:r>
              <a:rPr lang="en-US" sz="1300" dirty="0">
                <a:solidFill>
                  <a:srgbClr val="1F2A37"/>
                </a:solidFill>
              </a:rPr>
              <a:t>Run against two configurations: retrieval only, and tools with claims</a:t>
            </a:r>
            <a:endParaRPr lang="en-US" sz="1300" dirty="0"/>
          </a:p>
          <a:p>
            <a:pPr marL="177800" indent="-177800">
              <a:spcAft>
                <a:spcPts val="500"/>
              </a:spcAft>
              <a:buSzPct val="100000"/>
              <a:buChar char="•"/>
            </a:pPr>
            <a:r>
              <a:rPr lang="en-US" sz="1300" dirty="0">
                <a:solidFill>
                  <a:srgbClr val="1F2A37"/>
                </a:solidFill>
              </a:rPr>
              <a:t>Rerun after every change to instructions, tools, index, or model</a:t>
            </a:r>
            <a:endParaRPr lang="en-US" sz="1300" dirty="0"/>
          </a:p>
        </p:txBody>
      </p:sp>
      <p:sp>
        <p:nvSpPr>
          <p:cNvPr id="5" name="Text 3"/>
          <p:cNvSpPr txBox="1"/>
          <p:nvPr/>
        </p:nvSpPr>
        <p:spPr>
          <a:xfrm>
            <a:off x="548640" y="4114800"/>
            <a:ext cx="5303520" cy="365760"/>
          </a:xfrm>
          <a:prstGeom prst="rect">
            <a:avLst/>
          </a:prstGeom>
          <a:noFill/>
          <a:ln/>
        </p:spPr>
        <p:txBody>
          <a:bodyPr wrap="square" lIns="0" tIns="0" rIns="0" bIns="0" rtlCol="0" anchor="t"/>
          <a:lstStyle/>
          <a:p>
            <a:pPr indent="0" marL="0">
              <a:buNone/>
            </a:pPr>
            <a:r>
              <a:rPr lang="en-US" sz="1500" b="1" dirty="0">
                <a:solidFill>
                  <a:srgbClr val="0B4A8B"/>
                </a:solidFill>
              </a:rPr>
              <a:t>Columns</a:t>
            </a:r>
            <a:endParaRPr lang="en-US" sz="1500" dirty="0"/>
          </a:p>
        </p:txBody>
      </p:sp>
      <p:sp>
        <p:nvSpPr>
          <p:cNvPr id="6" name="Text 4"/>
          <p:cNvSpPr txBox="1"/>
          <p:nvPr/>
        </p:nvSpPr>
        <p:spPr>
          <a:xfrm>
            <a:off x="548640" y="4526280"/>
            <a:ext cx="53035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retrieval: did the hits include an expected document</a:t>
            </a:r>
            <a:endParaRPr lang="en-US" sz="1300" dirty="0"/>
          </a:p>
          <a:p>
            <a:pPr marL="177800" indent="-177800">
              <a:spcAft>
                <a:spcPts val="500"/>
              </a:spcAft>
              <a:buSzPct val="100000"/>
              <a:buChar char="•"/>
            </a:pPr>
            <a:r>
              <a:rPr lang="en-US" sz="1300" dirty="0">
                <a:solidFill>
                  <a:srgbClr val="1F2A37"/>
                </a:solidFill>
              </a:rPr>
              <a:t>numbers: expected values found in the answer</a:t>
            </a:r>
            <a:endParaRPr lang="en-US" sz="1300" dirty="0"/>
          </a:p>
          <a:p>
            <a:pPr marL="177800" indent="-177800">
              <a:spcAft>
                <a:spcPts val="500"/>
              </a:spcAft>
              <a:buSzPct val="100000"/>
              <a:buChar char="•"/>
            </a:pPr>
            <a:r>
              <a:rPr lang="en-US" sz="1300" dirty="0">
                <a:solidFill>
                  <a:srgbClr val="1F2A37"/>
                </a:solidFill>
              </a:rPr>
              <a:t>cited: a retrieved document or the source named</a:t>
            </a:r>
            <a:endParaRPr lang="en-US" sz="1300" dirty="0"/>
          </a:p>
          <a:p>
            <a:pPr marL="177800" indent="-177800">
              <a:spcAft>
                <a:spcPts val="500"/>
              </a:spcAft>
              <a:buSzPct val="100000"/>
              <a:buChar char="•"/>
            </a:pPr>
            <a:r>
              <a:rPr lang="en-US" sz="1300" dirty="0">
                <a:solidFill>
                  <a:srgbClr val="1F2A37"/>
                </a:solidFill>
              </a:rPr>
              <a:t>verify: verified, flagged, unmarked counts</a:t>
            </a:r>
            <a:endParaRPr lang="en-US" sz="1300" dirty="0"/>
          </a:p>
        </p:txBody>
      </p:sp>
      <p:sp>
        <p:nvSpPr>
          <p:cNvPr id="7" name="Text 5"/>
          <p:cNvSpPr txBox="1"/>
          <p:nvPr/>
        </p:nvSpPr>
        <p:spPr>
          <a:xfrm>
            <a:off x="6217920" y="1325880"/>
            <a:ext cx="5425135" cy="3291840"/>
          </a:xfrm>
          <a:prstGeom prst="rect">
            <a:avLst/>
          </a:prstGeom>
          <a:solidFill>
            <a:srgbClr val="EEF3F8"/>
          </a:solidFill>
          <a:ln/>
        </p:spPr>
        <p:txBody>
          <a:bodyPr wrap="square" lIns="1270" tIns="1270" rIns="1270" bIns="1270" rtlCol="0" anchor="t"/>
          <a:lstStyle/>
          <a:p>
            <a:pPr indent="0" marL="0">
              <a:buNone/>
            </a:pPr>
            <a:r>
              <a:rPr lang="en-US" sz="1050" dirty="0">
                <a:solidFill>
                  <a:srgbClr val="1F2A37"/>
                </a:solidFill>
                <a:latin typeface="Courier New" pitchFamily="34" charset="0"/>
                <a:ea typeface="Courier New" pitchFamily="34" charset="-122"/>
                <a:cs typeface="Courier New" pitchFamily="34" charset="-120"/>
              </a:rPr>
              <a:t>B · tools and claims</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id   category           retrieval  numbers  cited  verify</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q1   main               hit        4/4      yes    4v 0f 0u</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q3   ambiguous          hit        0/0      yes    no data used</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q4   missing-data       hit        0/0      yes    1v 0f 0u</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q5   out-of-scope       hit        0/0      yes    no data used</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q8   outdated-evidence  hit        1/1      yes    1v 0f 0u</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A · retrieval only</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q8   outdated-evidence  hit        0/1      yes    n/a</a:t>
            </a:r>
            <a:endParaRPr lang="en-US" sz="1050" dirty="0"/>
          </a:p>
        </p:txBody>
      </p:sp>
      <p:sp>
        <p:nvSpPr>
          <p:cNvPr id="8" name="Text 6"/>
          <p:cNvSpPr txBox="1"/>
          <p:nvPr/>
        </p:nvSpPr>
        <p:spPr>
          <a:xfrm>
            <a:off x="6217920" y="4754880"/>
            <a:ext cx="5425135" cy="1188720"/>
          </a:xfrm>
          <a:prstGeom prst="rect">
            <a:avLst/>
          </a:prstGeom>
          <a:noFill/>
          <a:ln/>
        </p:spPr>
        <p:txBody>
          <a:bodyPr wrap="square" lIns="0" tIns="0" rIns="0" bIns="0" rtlCol="0" anchor="t"/>
          <a:lstStyle/>
          <a:p>
            <a:pPr indent="0" marL="0">
              <a:buNone/>
            </a:pPr>
            <a:r>
              <a:rPr lang="en-US" sz="1250" dirty="0">
                <a:solidFill>
                  <a:srgbClr val="1F2A37"/>
                </a:solidFill>
              </a:rPr>
              <a:t>q8 separates the configurations: retrieval alone reports 2015 from the 2016 summary; tools fetch the series and report 2024. Every number in B is verified; A has nothing to verify against.</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Four checks for four questions</a:t>
            </a:r>
            <a:endParaRPr lang="en-US" sz="2800" dirty="0"/>
          </a:p>
        </p:txBody>
      </p:sp>
      <p:sp>
        <p:nvSpPr>
          <p:cNvPr id="3" name="check Retrieval"/>
          <p:cNvSpPr/>
          <p:nvPr/>
        </p:nvSpPr>
        <p:spPr>
          <a:xfrm>
            <a:off x="548640" y="1371600"/>
            <a:ext cx="2567864" cy="548640"/>
          </a:xfrm>
          <a:prstGeom prst="roundRect">
            <a:avLst>
              <a:gd name="adj" fmla="val 13333"/>
            </a:avLst>
          </a:prstGeom>
          <a:solidFill>
            <a:srgbClr val="0A8F8C"/>
          </a:solidFill>
          <a:ln w="12700">
            <a:solidFill>
              <a:srgbClr val="0A8F8C"/>
            </a:solidFill>
            <a:prstDash val="solid"/>
          </a:ln>
        </p:spPr>
      </p:sp>
      <p:sp>
        <p:nvSpPr>
          <p:cNvPr id="4" name="Text 2"/>
          <p:cNvSpPr txBox="1"/>
          <p:nvPr/>
        </p:nvSpPr>
        <p:spPr>
          <a:xfrm>
            <a:off x="548640"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Retrieval</a:t>
            </a:r>
            <a:endParaRPr lang="en-US" sz="1200" dirty="0"/>
          </a:p>
        </p:txBody>
      </p:sp>
      <p:sp>
        <p:nvSpPr>
          <p:cNvPr id="5" name="check card Retrieval"/>
          <p:cNvSpPr/>
          <p:nvPr/>
        </p:nvSpPr>
        <p:spPr>
          <a:xfrm>
            <a:off x="548640" y="2011680"/>
            <a:ext cx="2567864" cy="2377440"/>
          </a:xfrm>
          <a:prstGeom prst="roundRect">
            <a:avLst>
              <a:gd name="adj" fmla="val 4615"/>
            </a:avLst>
          </a:prstGeom>
          <a:solidFill>
            <a:srgbClr val="EEF3F8"/>
          </a:solidFill>
          <a:ln w="12700">
            <a:solidFill>
              <a:srgbClr val="EEF3F8"/>
            </a:solidFill>
            <a:prstDash val="solid"/>
          </a:ln>
        </p:spPr>
      </p:sp>
      <p:sp>
        <p:nvSpPr>
          <p:cNvPr id="6" name="Text 4"/>
          <p:cNvSpPr txBox="1"/>
          <p:nvPr/>
        </p:nvSpPr>
        <p:spPr>
          <a:xfrm>
            <a:off x="731520"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Did we find the right evidence?</a:t>
            </a:r>
            <a:endParaRPr lang="en-US" sz="1400" dirty="0"/>
          </a:p>
        </p:txBody>
      </p:sp>
      <p:sp>
        <p:nvSpPr>
          <p:cNvPr id="7" name="Text 5"/>
          <p:cNvSpPr txBox="1"/>
          <p:nvPr/>
        </p:nvSpPr>
        <p:spPr>
          <a:xfrm>
            <a:off x="731520"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Hits against expected documents, no model needed</a:t>
            </a:r>
            <a:endParaRPr lang="en-US" sz="1250" dirty="0"/>
          </a:p>
        </p:txBody>
      </p:sp>
      <p:sp>
        <p:nvSpPr>
          <p:cNvPr id="8" name="check Grounding"/>
          <p:cNvSpPr/>
          <p:nvPr/>
        </p:nvSpPr>
        <p:spPr>
          <a:xfrm>
            <a:off x="3390824" y="1371600"/>
            <a:ext cx="2567864" cy="548640"/>
          </a:xfrm>
          <a:prstGeom prst="roundRect">
            <a:avLst>
              <a:gd name="adj" fmla="val 13333"/>
            </a:avLst>
          </a:prstGeom>
          <a:solidFill>
            <a:srgbClr val="0B4A8B"/>
          </a:solidFill>
          <a:ln w="12700">
            <a:solidFill>
              <a:srgbClr val="0B4A8B"/>
            </a:solidFill>
            <a:prstDash val="solid"/>
          </a:ln>
        </p:spPr>
      </p:sp>
      <p:sp>
        <p:nvSpPr>
          <p:cNvPr id="9" name="Text 7"/>
          <p:cNvSpPr txBox="1"/>
          <p:nvPr/>
        </p:nvSpPr>
        <p:spPr>
          <a:xfrm>
            <a:off x="3390824"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Grounding</a:t>
            </a:r>
            <a:endParaRPr lang="en-US" sz="1200" dirty="0"/>
          </a:p>
        </p:txBody>
      </p:sp>
      <p:sp>
        <p:nvSpPr>
          <p:cNvPr id="10" name="check card Grounding"/>
          <p:cNvSpPr/>
          <p:nvPr/>
        </p:nvSpPr>
        <p:spPr>
          <a:xfrm>
            <a:off x="3390824" y="2011680"/>
            <a:ext cx="2567864" cy="2377440"/>
          </a:xfrm>
          <a:prstGeom prst="roundRect">
            <a:avLst>
              <a:gd name="adj" fmla="val 4615"/>
            </a:avLst>
          </a:prstGeom>
          <a:solidFill>
            <a:srgbClr val="EEF3F8"/>
          </a:solidFill>
          <a:ln w="12700">
            <a:solidFill>
              <a:srgbClr val="EEF3F8"/>
            </a:solidFill>
            <a:prstDash val="solid"/>
          </a:ln>
        </p:spPr>
      </p:sp>
      <p:sp>
        <p:nvSpPr>
          <p:cNvPr id="11" name="Text 9"/>
          <p:cNvSpPr txBox="1"/>
          <p:nvPr/>
        </p:nvSpPr>
        <p:spPr>
          <a:xfrm>
            <a:off x="3573704"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Is the answer written from that evidence?</a:t>
            </a:r>
            <a:endParaRPr lang="en-US" sz="1400" dirty="0"/>
          </a:p>
        </p:txBody>
      </p:sp>
      <p:sp>
        <p:nvSpPr>
          <p:cNvPr id="12" name="Text 10"/>
          <p:cNvSpPr txBox="1"/>
          <p:nvPr/>
        </p:nvSpPr>
        <p:spPr>
          <a:xfrm>
            <a:off x="3573704"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Citations present and matching the hits</a:t>
            </a:r>
            <a:endParaRPr lang="en-US" sz="1250" dirty="0"/>
          </a:p>
        </p:txBody>
      </p:sp>
      <p:sp>
        <p:nvSpPr>
          <p:cNvPr id="13" name="check Verification"/>
          <p:cNvSpPr/>
          <p:nvPr/>
        </p:nvSpPr>
        <p:spPr>
          <a:xfrm>
            <a:off x="6233008" y="1371600"/>
            <a:ext cx="2567864" cy="548640"/>
          </a:xfrm>
          <a:prstGeom prst="roundRect">
            <a:avLst>
              <a:gd name="adj" fmla="val 13333"/>
            </a:avLst>
          </a:prstGeom>
          <a:solidFill>
            <a:srgbClr val="B08A2E"/>
          </a:solidFill>
          <a:ln w="12700">
            <a:solidFill>
              <a:srgbClr val="B08A2E"/>
            </a:solidFill>
            <a:prstDash val="solid"/>
          </a:ln>
        </p:spPr>
      </p:sp>
      <p:sp>
        <p:nvSpPr>
          <p:cNvPr id="14" name="Text 12"/>
          <p:cNvSpPr txBox="1"/>
          <p:nvPr/>
        </p:nvSpPr>
        <p:spPr>
          <a:xfrm>
            <a:off x="6233008"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Verification</a:t>
            </a:r>
            <a:endParaRPr lang="en-US" sz="1200" dirty="0"/>
          </a:p>
        </p:txBody>
      </p:sp>
      <p:sp>
        <p:nvSpPr>
          <p:cNvPr id="15" name="check card Verification"/>
          <p:cNvSpPr/>
          <p:nvPr/>
        </p:nvSpPr>
        <p:spPr>
          <a:xfrm>
            <a:off x="6233008" y="2011680"/>
            <a:ext cx="2567864" cy="2377440"/>
          </a:xfrm>
          <a:prstGeom prst="roundRect">
            <a:avLst>
              <a:gd name="adj" fmla="val 4615"/>
            </a:avLst>
          </a:prstGeom>
          <a:solidFill>
            <a:srgbClr val="EEF3F8"/>
          </a:solidFill>
          <a:ln w="12700">
            <a:solidFill>
              <a:srgbClr val="EEF3F8"/>
            </a:solidFill>
            <a:prstDash val="solid"/>
          </a:ln>
        </p:spPr>
      </p:sp>
      <p:sp>
        <p:nvSpPr>
          <p:cNvPr id="16" name="Text 14"/>
          <p:cNvSpPr txBox="1"/>
          <p:nvPr/>
        </p:nvSpPr>
        <p:spPr>
          <a:xfrm>
            <a:off x="6415888"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Does each number match its record?</a:t>
            </a:r>
            <a:endParaRPr lang="en-US" sz="1400" dirty="0"/>
          </a:p>
        </p:txBody>
      </p:sp>
      <p:sp>
        <p:nvSpPr>
          <p:cNvPr id="17" name="Text 15"/>
          <p:cNvSpPr txBox="1"/>
          <p:nvPr/>
        </p:nvSpPr>
        <p:spPr>
          <a:xfrm>
            <a:off x="6415888"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Claim tags checked under a policy; fail-closed</a:t>
            </a:r>
            <a:endParaRPr lang="en-US" sz="1250" dirty="0"/>
          </a:p>
        </p:txBody>
      </p:sp>
      <p:sp>
        <p:nvSpPr>
          <p:cNvPr id="18" name="check Evaluation"/>
          <p:cNvSpPr/>
          <p:nvPr/>
        </p:nvSpPr>
        <p:spPr>
          <a:xfrm>
            <a:off x="9075191" y="1371600"/>
            <a:ext cx="2567864" cy="548640"/>
          </a:xfrm>
          <a:prstGeom prst="roundRect">
            <a:avLst>
              <a:gd name="adj" fmla="val 13333"/>
            </a:avLst>
          </a:prstGeom>
          <a:solidFill>
            <a:srgbClr val="5B6B7C"/>
          </a:solidFill>
          <a:ln w="12700">
            <a:solidFill>
              <a:srgbClr val="5B6B7C"/>
            </a:solidFill>
            <a:prstDash val="solid"/>
          </a:ln>
        </p:spPr>
      </p:sp>
      <p:sp>
        <p:nvSpPr>
          <p:cNvPr id="19" name="Text 17"/>
          <p:cNvSpPr txBox="1"/>
          <p:nvPr/>
        </p:nvSpPr>
        <p:spPr>
          <a:xfrm>
            <a:off x="9075191"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Evaluation</a:t>
            </a:r>
            <a:endParaRPr lang="en-US" sz="1200" dirty="0"/>
          </a:p>
        </p:txBody>
      </p:sp>
      <p:sp>
        <p:nvSpPr>
          <p:cNvPr id="20" name="check card Evaluation"/>
          <p:cNvSpPr/>
          <p:nvPr/>
        </p:nvSpPr>
        <p:spPr>
          <a:xfrm>
            <a:off x="9075191" y="2011680"/>
            <a:ext cx="2567864" cy="2377440"/>
          </a:xfrm>
          <a:prstGeom prst="roundRect">
            <a:avLst>
              <a:gd name="adj" fmla="val 4615"/>
            </a:avLst>
          </a:prstGeom>
          <a:solidFill>
            <a:srgbClr val="EEF3F8"/>
          </a:solidFill>
          <a:ln w="12700">
            <a:solidFill>
              <a:srgbClr val="EEF3F8"/>
            </a:solidFill>
            <a:prstDash val="solid"/>
          </a:ln>
        </p:spPr>
      </p:sp>
      <p:sp>
        <p:nvSpPr>
          <p:cNvPr id="21" name="Text 19"/>
          <p:cNvSpPr txBox="1"/>
          <p:nvPr/>
        </p:nvSpPr>
        <p:spPr>
          <a:xfrm>
            <a:off x="9258071"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Does the application behave across questions?</a:t>
            </a:r>
            <a:endParaRPr lang="en-US" sz="1400" dirty="0"/>
          </a:p>
        </p:txBody>
      </p:sp>
      <p:sp>
        <p:nvSpPr>
          <p:cNvPr id="22" name="Text 20"/>
          <p:cNvSpPr txBox="1"/>
          <p:nvPr/>
        </p:nvSpPr>
        <p:spPr>
          <a:xfrm>
            <a:off x="9258071"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The suite, rerun on every change</a:t>
            </a:r>
            <a:endParaRPr lang="en-US" sz="1250" dirty="0"/>
          </a:p>
        </p:txBody>
      </p:sp>
      <p:sp>
        <p:nvSpPr>
          <p:cNvPr id="23" name="Text 21"/>
          <p:cNvSpPr txBox="1"/>
          <p:nvPr/>
        </p:nvSpPr>
        <p:spPr>
          <a:xfrm>
            <a:off x="548640" y="4663440"/>
            <a:ext cx="11094415" cy="731520"/>
          </a:xfrm>
          <a:prstGeom prst="rect">
            <a:avLst/>
          </a:prstGeom>
          <a:noFill/>
          <a:ln/>
        </p:spPr>
        <p:txBody>
          <a:bodyPr wrap="square" lIns="0" tIns="0" rIns="0" bIns="0" rtlCol="0" anchor="t"/>
          <a:lstStyle/>
          <a:p>
            <a:pPr indent="0" marL="0">
              <a:buNone/>
            </a:pPr>
            <a:r>
              <a:rPr lang="en-US" sz="1400" dirty="0">
                <a:solidFill>
                  <a:srgbClr val="1F2A37"/>
                </a:solidFill>
              </a:rPr>
              <a:t>A plausible answer passes none of these by being plausible. An appropriately validated answer passes the four, and says what it leaves to the reader.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The same ideas in the application the program runs</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Data360 Chat</a:t>
            </a:r>
            <a:endParaRPr lang="en-US" sz="1500" dirty="0"/>
          </a:p>
        </p:txBody>
      </p:sp>
      <p:sp>
        <p:nvSpPr>
          <p:cNvPr id="4" name="Text 2"/>
          <p:cNvSpPr txBox="1"/>
          <p:nvPr/>
        </p:nvSpPr>
        <p:spPr>
          <a:xfrm>
            <a:off x="548640" y="1737360"/>
            <a:ext cx="566928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Tools over the World Bank data catalog through the Data360 MCP server: search, metadata, data</a:t>
            </a:r>
            <a:endParaRPr lang="en-US" sz="1300" dirty="0"/>
          </a:p>
          <a:p>
            <a:pPr marL="177800" indent="-177800">
              <a:spcAft>
                <a:spcPts val="500"/>
              </a:spcAft>
              <a:buSzPct val="100000"/>
              <a:buChar char="•"/>
            </a:pPr>
            <a:r>
              <a:rPr lang="en-US" sz="1300" dirty="0">
                <a:solidFill>
                  <a:srgbClr val="1F2A37"/>
                </a:solidFill>
              </a:rPr>
              <a:t>A bounded loop with a trace, so that an answer can be inspected</a:t>
            </a:r>
            <a:endParaRPr lang="en-US" sz="1300" dirty="0"/>
          </a:p>
          <a:p>
            <a:pPr marL="177800" indent="-177800">
              <a:spcAft>
                <a:spcPts val="500"/>
              </a:spcAft>
              <a:buSzPct val="100000"/>
              <a:buChar char="•"/>
            </a:pPr>
            <a:r>
              <a:rPr lang="en-US" sz="1300" dirty="0">
                <a:solidFill>
                  <a:srgbClr val="1F2A37"/>
                </a:solidFill>
              </a:rPr>
              <a:t>Claim tags and a verifier in the renderer, with the Proof-Carrying Numbers packages</a:t>
            </a:r>
            <a:endParaRPr lang="en-US" sz="1300" dirty="0"/>
          </a:p>
          <a:p>
            <a:pPr marL="177800" indent="-177800">
              <a:spcAft>
                <a:spcPts val="500"/>
              </a:spcAft>
              <a:buSzPct val="100000"/>
              <a:buChar char="•"/>
            </a:pPr>
            <a:r>
              <a:rPr lang="en-US" sz="1300" dirty="0">
                <a:solidFill>
                  <a:srgbClr val="1F2A37"/>
                </a:solidFill>
              </a:rPr>
              <a:t>An evaluation suite over the questions users ask</a:t>
            </a:r>
            <a:endParaRPr lang="en-US" sz="1300" dirty="0"/>
          </a:p>
        </p:txBody>
      </p:sp>
      <p:sp>
        <p:nvSpPr>
          <p:cNvPr id="5" name="Text 3"/>
          <p:cNvSpPr txBox="1"/>
          <p:nvPr/>
        </p:nvSpPr>
        <p:spPr>
          <a:xfrm>
            <a:off x="548640" y="411480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Lessons from building it</a:t>
            </a:r>
            <a:endParaRPr lang="en-US" sz="1500" dirty="0"/>
          </a:p>
        </p:txBody>
      </p:sp>
      <p:sp>
        <p:nvSpPr>
          <p:cNvPr id="6" name="Text 4"/>
          <p:cNvSpPr txBox="1"/>
          <p:nvPr/>
        </p:nvSpPr>
        <p:spPr>
          <a:xfrm>
            <a:off x="548640" y="4526280"/>
            <a:ext cx="566928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Search over a catalog misses series; the metadata has to carry what users say</a:t>
            </a:r>
            <a:endParaRPr lang="en-US" sz="1300" dirty="0"/>
          </a:p>
          <a:p>
            <a:pPr marL="177800" indent="-177800">
              <a:spcAft>
                <a:spcPts val="500"/>
              </a:spcAft>
              <a:buSzPct val="100000"/>
              <a:buChar char="•"/>
            </a:pPr>
            <a:r>
              <a:rPr lang="en-US" sz="1300" dirty="0">
                <a:solidFill>
                  <a:srgbClr val="1F2A37"/>
                </a:solidFill>
              </a:rPr>
              <a:t>A dimension listed in metadata may have no data; the tool has to say so</a:t>
            </a:r>
            <a:endParaRPr lang="en-US" sz="1300" dirty="0"/>
          </a:p>
          <a:p>
            <a:pPr marL="177800" indent="-177800">
              <a:spcAft>
                <a:spcPts val="500"/>
              </a:spcAft>
              <a:buSzPct val="100000"/>
              <a:buChar char="•"/>
            </a:pPr>
            <a:r>
              <a:rPr lang="en-US" sz="1300" dirty="0">
                <a:solidFill>
                  <a:srgbClr val="1F2A37"/>
                </a:solidFill>
              </a:rPr>
              <a:t>The verifier catches changed numbers; it cannot catch the wrong series</a:t>
            </a:r>
            <a:endParaRPr lang="en-US" sz="1300" dirty="0"/>
          </a:p>
          <a:p>
            <a:pPr marL="177800" indent="-177800">
              <a:spcAft>
                <a:spcPts val="500"/>
              </a:spcAft>
              <a:buSzPct val="100000"/>
              <a:buChar char="•"/>
            </a:pPr>
            <a:r>
              <a:rPr lang="en-US" sz="1300" dirty="0">
                <a:solidFill>
                  <a:srgbClr val="1F2A37"/>
                </a:solidFill>
              </a:rPr>
              <a:t>The suite grows from use: every failure found becomes a question</a:t>
            </a:r>
            <a:endParaRPr lang="en-US" sz="1300" dirty="0"/>
          </a:p>
        </p:txBody>
      </p:sp>
      <p:sp>
        <p:nvSpPr>
          <p:cNvPr id="7" name="demo card"/>
          <p:cNvSpPr/>
          <p:nvPr/>
        </p:nvSpPr>
        <p:spPr>
          <a:xfrm>
            <a:off x="6675120" y="1325880"/>
            <a:ext cx="4967935" cy="4754880"/>
          </a:xfrm>
          <a:prstGeom prst="roundRect">
            <a:avLst>
              <a:gd name="adj" fmla="val 2308"/>
            </a:avLst>
          </a:prstGeom>
          <a:solidFill>
            <a:srgbClr val="D6EEEC"/>
          </a:solidFill>
          <a:ln w="12700">
            <a:solidFill>
              <a:srgbClr val="D6EEEC"/>
            </a:solidFill>
            <a:prstDash val="solid"/>
          </a:ln>
        </p:spPr>
      </p:sp>
      <p:sp>
        <p:nvSpPr>
          <p:cNvPr id="8" name="Text 6"/>
          <p:cNvSpPr txBox="1"/>
          <p:nvPr/>
        </p:nvSpPr>
        <p:spPr>
          <a:xfrm>
            <a:off x="6903720" y="1463040"/>
            <a:ext cx="4510735" cy="365760"/>
          </a:xfrm>
          <a:prstGeom prst="rect">
            <a:avLst/>
          </a:prstGeom>
          <a:noFill/>
          <a:ln/>
        </p:spPr>
        <p:txBody>
          <a:bodyPr wrap="square" lIns="0" tIns="0" rIns="0" bIns="0" rtlCol="0" anchor="t"/>
          <a:lstStyle/>
          <a:p>
            <a:pPr indent="0" marL="0">
              <a:buNone/>
            </a:pPr>
            <a:r>
              <a:rPr lang="en-US" sz="1500" b="1" dirty="0">
                <a:solidFill>
                  <a:srgbClr val="0B4A8B"/>
                </a:solidFill>
              </a:rPr>
              <a:t>Live demonstration</a:t>
            </a:r>
            <a:endParaRPr lang="en-US" sz="1500" dirty="0"/>
          </a:p>
        </p:txBody>
      </p:sp>
      <p:sp>
        <p:nvSpPr>
          <p:cNvPr id="9" name="Text 7"/>
          <p:cNvSpPr txBox="1"/>
          <p:nvPr/>
        </p:nvSpPr>
        <p:spPr>
          <a:xfrm>
            <a:off x="6903720" y="1874520"/>
            <a:ext cx="4510735"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The worked example on the live system</a:t>
            </a:r>
            <a:endParaRPr lang="en-US" sz="1300" dirty="0"/>
          </a:p>
          <a:p>
            <a:pPr marL="177800" indent="-177800">
              <a:spcAft>
                <a:spcPts val="500"/>
              </a:spcAft>
              <a:buSzPct val="100000"/>
              <a:buChar char="•"/>
            </a:pPr>
            <a:r>
              <a:rPr lang="en-US" sz="1300" dirty="0">
                <a:solidFill>
                  <a:srgbClr val="1F2A37"/>
                </a:solidFill>
              </a:rPr>
              <a:t>A year with no data</a:t>
            </a:r>
            <a:endParaRPr lang="en-US" sz="1300" dirty="0"/>
          </a:p>
          <a:p>
            <a:pPr marL="177800" indent="-177800">
              <a:spcAft>
                <a:spcPts val="500"/>
              </a:spcAft>
              <a:buSzPct val="100000"/>
              <a:buChar char="•"/>
            </a:pPr>
            <a:r>
              <a:rPr lang="en-US" sz="1300" dirty="0">
                <a:solidFill>
                  <a:srgbClr val="1F2A37"/>
                </a:solidFill>
              </a:rPr>
              <a:t>The ambiguous question</a:t>
            </a:r>
            <a:endParaRPr lang="en-US" sz="1300" dirty="0"/>
          </a:p>
          <a:p>
            <a:pPr marL="177800" indent="-177800">
              <a:spcAft>
                <a:spcPts val="500"/>
              </a:spcAft>
              <a:buSzPct val="100000"/>
              <a:buChar char="•"/>
            </a:pPr>
            <a:r>
              <a:rPr lang="en-US" sz="1300" dirty="0">
                <a:solidFill>
                  <a:srgbClr val="1F2A37"/>
                </a:solidFill>
              </a:rPr>
              <a:t>Which indicator to use, and its definition</a:t>
            </a:r>
            <a:endParaRPr lang="en-US" sz="1300" dirty="0"/>
          </a:p>
          <a:p>
            <a:pPr marL="177800" indent="-177800">
              <a:spcAft>
                <a:spcPts val="500"/>
              </a:spcAft>
              <a:buSzPct val="100000"/>
              <a:buChar char="•"/>
            </a:pPr>
            <a:r>
              <a:rPr lang="en-US" sz="1300" dirty="0">
                <a:solidFill>
                  <a:srgbClr val="1F2A37"/>
                </a:solidFill>
              </a:rPr>
              <a:t>One number with its source and its mark</a:t>
            </a:r>
            <a:endParaRPr lang="en-US" sz="1300" dirty="0"/>
          </a:p>
        </p:txBody>
      </p:sp>
      <p:sp>
        <p:nvSpPr>
          <p:cNvPr id="10" name="Text 8"/>
          <p:cNvSpPr txBox="1"/>
          <p:nvPr/>
        </p:nvSpPr>
        <p:spPr>
          <a:xfrm>
            <a:off x="6903720" y="4389120"/>
            <a:ext cx="4510735" cy="1463040"/>
          </a:xfrm>
          <a:prstGeom prst="rect">
            <a:avLst/>
          </a:prstGeom>
          <a:noFill/>
          <a:ln/>
        </p:spPr>
        <p:txBody>
          <a:bodyPr wrap="square" lIns="0" tIns="0" rIns="0" bIns="0" rtlCol="0" anchor="t"/>
          <a:lstStyle/>
          <a:p>
            <a:pPr indent="0" marL="0">
              <a:buNone/>
            </a:pPr>
            <a:r>
              <a:rPr lang="en-US" sz="1200" dirty="0">
                <a:solidFill>
                  <a:srgbClr val="5B6B7C"/>
                </a:solidFill>
              </a:rPr>
              <a:t>Queries are pretested and screenshots stand in if the application or the network is unavailable. See demo/data360-chat-demo.md.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Recap</a:t>
            </a:r>
            <a:endParaRPr lang="en-US" sz="2800" dirty="0"/>
          </a:p>
        </p:txBody>
      </p:sp>
      <p:sp>
        <p:nvSpPr>
          <p:cNvPr id="3" name="stage 1"/>
          <p:cNvSpPr/>
          <p:nvPr/>
        </p:nvSpPr>
        <p:spPr>
          <a:xfrm>
            <a:off x="548640" y="1280160"/>
            <a:ext cx="1734769" cy="640080"/>
          </a:xfrm>
          <a:prstGeom prst="roundRect">
            <a:avLst>
              <a:gd name="adj" fmla="val 11429"/>
            </a:avLst>
          </a:prstGeom>
          <a:solidFill>
            <a:srgbClr val="0B4A8B"/>
          </a:solidFill>
          <a:ln w="12700">
            <a:solidFill>
              <a:srgbClr val="0B4A8B"/>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0B4A8B"/>
          </a:solidFill>
          <a:ln w="12700">
            <a:solidFill>
              <a:srgbClr val="0B4A8B"/>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0B4A8B"/>
          </a:solidFill>
          <a:ln w="12700">
            <a:solidFill>
              <a:srgbClr val="0B4A8B"/>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0B4A8B"/>
          </a:solidFill>
          <a:ln w="12700">
            <a:solidFill>
              <a:srgbClr val="0B4A8B"/>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0B4A8B"/>
          </a:solidFill>
          <a:ln w="12700">
            <a:solidFill>
              <a:srgbClr val="0B4A8B"/>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0B4A8B"/>
          </a:solidFill>
          <a:ln w="12700">
            <a:solidFill>
              <a:srgbClr val="0B4A8B"/>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graphicFrame>
        <p:nvGraphicFramePr>
          <p:cNvPr id="20" name="recap 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1097280"/>
                <a:gridCol w="2743200"/>
                <a:gridCol w="725119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Adds</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lesson</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and context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shape behaviour; context makes the answer specific. Neither supplies data the model lacks.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1148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Prepared knowledge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Metadata and chunk boundaries decide what retrieval can find.</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Retrieval</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faithful answer to the wrong evidence is wrong; fix retrieval on the retrieval side; test it on its own.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Tools and schemas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Numbers come from data; absence is a testable result; a schema is a contract.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Workflow or agent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Prefer the simplest design that completes the task; bound and trace any loop.</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Verification and evaluation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Check each number against its record; measure the whole across questions; rerun on every change.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Resources and questions</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Take home</a:t>
            </a:r>
            <a:endParaRPr lang="en-US" sz="1500" dirty="0"/>
          </a:p>
        </p:txBody>
      </p:sp>
      <p:sp>
        <p:nvSpPr>
          <p:cNvPr id="4" name="Text 2"/>
          <p:cNvSpPr txBox="1"/>
          <p:nvPr/>
        </p:nvSpPr>
        <p:spPr>
          <a:xfrm>
            <a:off x="548640" y="1737360"/>
            <a:ext cx="566928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The six notebooks, with cached outputs; they run in Colab without a key</a:t>
            </a:r>
            <a:endParaRPr lang="en-US" sz="1300" dirty="0"/>
          </a:p>
          <a:p>
            <a:pPr marL="177800" indent="-177800">
              <a:spcAft>
                <a:spcPts val="500"/>
              </a:spcAft>
              <a:buSzPct val="100000"/>
              <a:buChar char="•"/>
            </a:pPr>
            <a:r>
              <a:rPr lang="en-US" sz="1300" dirty="0">
                <a:solidFill>
                  <a:srgbClr val="1F2A37"/>
                </a:solidFill>
              </a:rPr>
              <a:t>The shared module and the FastMCP server, about 450 lines on top of the libraries</a:t>
            </a:r>
            <a:endParaRPr lang="en-US" sz="1300" dirty="0"/>
          </a:p>
          <a:p>
            <a:pPr marL="177800" indent="-177800">
              <a:spcAft>
                <a:spcPts val="500"/>
              </a:spcAft>
              <a:buSzPct val="100000"/>
              <a:buChar char="•"/>
            </a:pPr>
            <a:r>
              <a:rPr lang="en-US" sz="1300" dirty="0">
                <a:solidFill>
                  <a:srgbClr val="1F2A37"/>
                </a:solidFill>
              </a:rPr>
              <a:t>The participant guide, the glossary, the evaluation examples, and next steps by role</a:t>
            </a:r>
            <a:endParaRPr lang="en-US" sz="1300" dirty="0"/>
          </a:p>
          <a:p>
            <a:pPr marL="177800" indent="-177800">
              <a:spcAft>
                <a:spcPts val="500"/>
              </a:spcAft>
              <a:buSzPct val="100000"/>
              <a:buChar char="•"/>
            </a:pPr>
            <a:r>
              <a:rPr lang="en-US" sz="1300" dirty="0">
                <a:solidFill>
                  <a:srgbClr val="1F2A37"/>
                </a:solidFill>
              </a:rPr>
              <a:t>The worked-example assets: data, documents, questions</a:t>
            </a:r>
            <a:endParaRPr lang="en-US" sz="1300" dirty="0"/>
          </a:p>
        </p:txBody>
      </p:sp>
      <p:sp>
        <p:nvSpPr>
          <p:cNvPr id="5" name="Text 3"/>
          <p:cNvSpPr txBox="1"/>
          <p:nvPr/>
        </p:nvSpPr>
        <p:spPr>
          <a:xfrm>
            <a:off x="548640" y="393192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In the program</a:t>
            </a:r>
            <a:endParaRPr lang="en-US" sz="1500" dirty="0"/>
          </a:p>
        </p:txBody>
      </p:sp>
      <p:sp>
        <p:nvSpPr>
          <p:cNvPr id="6" name="Text 4"/>
          <p:cNvSpPr txBox="1"/>
          <p:nvPr/>
        </p:nvSpPr>
        <p:spPr>
          <a:xfrm>
            <a:off x="548640" y="4343400"/>
            <a:ext cx="566928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Practical Guide to Serving Official Statistics to AI Agents</a:t>
            </a:r>
            <a:endParaRPr lang="en-US" sz="1300" dirty="0"/>
          </a:p>
          <a:p>
            <a:pPr marL="177800" indent="-177800">
              <a:spcAft>
                <a:spcPts val="500"/>
              </a:spcAft>
              <a:buSzPct val="100000"/>
              <a:buChar char="•"/>
            </a:pPr>
            <a:r>
              <a:rPr lang="en-US" sz="1300" dirty="0">
                <a:solidFill>
                  <a:srgbClr val="1F2A37"/>
                </a:solidFill>
              </a:rPr>
              <a:t>Practical Guide to Evaluation Suites for Statistical AI</a:t>
            </a:r>
            <a:endParaRPr lang="en-US" sz="1300" dirty="0"/>
          </a:p>
          <a:p>
            <a:pPr marL="177800" indent="-177800">
              <a:spcAft>
                <a:spcPts val="500"/>
              </a:spcAft>
              <a:buSzPct val="100000"/>
              <a:buChar char="•"/>
            </a:pPr>
            <a:r>
              <a:rPr lang="en-US" sz="1300" dirty="0">
                <a:solidFill>
                  <a:srgbClr val="1F2A37"/>
                </a:solidFill>
              </a:rPr>
              <a:t>Proof-Carrying Numbers</a:t>
            </a:r>
            <a:endParaRPr lang="en-US" sz="1300" dirty="0"/>
          </a:p>
          <a:p>
            <a:pPr marL="177800" indent="-177800">
              <a:spcAft>
                <a:spcPts val="500"/>
              </a:spcAft>
              <a:buSzPct val="100000"/>
              <a:buChar char="•"/>
            </a:pPr>
            <a:r>
              <a:rPr lang="en-US" sz="1300" dirty="0">
                <a:solidFill>
                  <a:srgbClr val="1F2A37"/>
                </a:solidFill>
              </a:rPr>
              <a:t>Data360 MCP server and the Data AI Chatbot</a:t>
            </a:r>
            <a:endParaRPr lang="en-US" sz="1300" dirty="0"/>
          </a:p>
          <a:p>
            <a:pPr marL="177800" indent="-177800">
              <a:spcAft>
                <a:spcPts val="500"/>
              </a:spcAft>
              <a:buSzPct val="100000"/>
              <a:buChar char="•"/>
            </a:pPr>
            <a:r>
              <a:rPr lang="en-US" sz="1300" dirty="0">
                <a:solidFill>
                  <a:srgbClr val="1F2A37"/>
                </a:solidFill>
              </a:rPr>
              <a:t>The end-to-end reference implementation</a:t>
            </a:r>
            <a:endParaRPr lang="en-US" sz="1300" dirty="0"/>
          </a:p>
        </p:txBody>
      </p:sp>
      <p:sp>
        <p:nvSpPr>
          <p:cNvPr id="7" name="question card"/>
          <p:cNvSpPr/>
          <p:nvPr/>
        </p:nvSpPr>
        <p:spPr>
          <a:xfrm>
            <a:off x="6675120" y="1325880"/>
            <a:ext cx="4967935" cy="4754880"/>
          </a:xfrm>
          <a:prstGeom prst="roundRect">
            <a:avLst>
              <a:gd name="adj" fmla="val 2308"/>
            </a:avLst>
          </a:prstGeom>
          <a:solidFill>
            <a:srgbClr val="EEF3F8"/>
          </a:solidFill>
          <a:ln w="12700">
            <a:solidFill>
              <a:srgbClr val="EEF3F8"/>
            </a:solidFill>
            <a:prstDash val="solid"/>
          </a:ln>
        </p:spPr>
      </p:sp>
      <p:sp>
        <p:nvSpPr>
          <p:cNvPr id="8" name="Text 6"/>
          <p:cNvSpPr txBox="1"/>
          <p:nvPr/>
        </p:nvSpPr>
        <p:spPr>
          <a:xfrm>
            <a:off x="6949440" y="1463040"/>
            <a:ext cx="4419295" cy="365760"/>
          </a:xfrm>
          <a:prstGeom prst="rect">
            <a:avLst/>
          </a:prstGeom>
          <a:noFill/>
          <a:ln/>
        </p:spPr>
        <p:txBody>
          <a:bodyPr wrap="square" lIns="0" tIns="0" rIns="0" bIns="0" rtlCol="0" anchor="t"/>
          <a:lstStyle/>
          <a:p>
            <a:pPr indent="0" marL="0">
              <a:buNone/>
            </a:pPr>
            <a:r>
              <a:rPr lang="en-US" sz="1500" b="1" dirty="0">
                <a:solidFill>
                  <a:srgbClr val="0B4A8B"/>
                </a:solidFill>
              </a:rPr>
              <a:t>The question to leave with</a:t>
            </a:r>
            <a:endParaRPr lang="en-US" sz="1500" dirty="0"/>
          </a:p>
        </p:txBody>
      </p:sp>
      <p:sp>
        <p:nvSpPr>
          <p:cNvPr id="9" name="Text 7"/>
          <p:cNvSpPr txBox="1"/>
          <p:nvPr/>
        </p:nvSpPr>
        <p:spPr>
          <a:xfrm>
            <a:off x="6949440" y="1920240"/>
            <a:ext cx="4419295" cy="1280160"/>
          </a:xfrm>
          <a:prstGeom prst="rect">
            <a:avLst/>
          </a:prstGeom>
          <a:noFill/>
          <a:ln/>
        </p:spPr>
        <p:txBody>
          <a:bodyPr wrap="square" lIns="0" tIns="0" rIns="0" bIns="0" rtlCol="0" anchor="t"/>
          <a:lstStyle/>
          <a:p>
            <a:pPr indent="0" marL="0">
              <a:buNone/>
            </a:pPr>
            <a:r>
              <a:rPr lang="en-US" sz="1600" dirty="0">
                <a:solidFill>
                  <a:srgbClr val="1F2A37"/>
                </a:solidFill>
              </a:rPr>
              <a:t>Given a research or data problem, which application architecture should be built, and what evidence would show that it works?</a:t>
            </a:r>
            <a:endParaRPr lang="en-US" sz="1600" dirty="0"/>
          </a:p>
        </p:txBody>
      </p:sp>
      <p:sp>
        <p:nvSpPr>
          <p:cNvPr id="10" name="Text 8"/>
          <p:cNvSpPr txBox="1"/>
          <p:nvPr/>
        </p:nvSpPr>
        <p:spPr>
          <a:xfrm>
            <a:off x="6949440" y="3383280"/>
            <a:ext cx="4419295" cy="365760"/>
          </a:xfrm>
          <a:prstGeom prst="rect">
            <a:avLst/>
          </a:prstGeom>
          <a:noFill/>
          <a:ln/>
        </p:spPr>
        <p:txBody>
          <a:bodyPr wrap="square" lIns="0" tIns="0" rIns="0" bIns="0" rtlCol="0" anchor="t"/>
          <a:lstStyle/>
          <a:p>
            <a:pPr indent="0" marL="0">
              <a:buNone/>
            </a:pPr>
            <a:r>
              <a:rPr lang="en-US" sz="1500" b="1" dirty="0">
                <a:solidFill>
                  <a:srgbClr val="0B4A8B"/>
                </a:solidFill>
              </a:rPr>
              <a:t>Questions</a:t>
            </a:r>
            <a:endParaRPr lang="en-US" sz="1500" dirty="0"/>
          </a:p>
        </p:txBody>
      </p:sp>
      <p:sp>
        <p:nvSpPr>
          <p:cNvPr id="11" name="Text 9"/>
          <p:cNvSpPr txBox="1"/>
          <p:nvPr/>
        </p:nvSpPr>
        <p:spPr>
          <a:xfrm>
            <a:off x="6949440" y="3794760"/>
            <a:ext cx="4419295" cy="914400"/>
          </a:xfrm>
          <a:prstGeom prst="rect">
            <a:avLst/>
          </a:prstGeom>
          <a:noFill/>
          <a:ln/>
        </p:spPr>
        <p:txBody>
          <a:bodyPr wrap="square" lIns="0" tIns="0" rIns="0" bIns="0" rtlCol="0" anchor="t"/>
          <a:lstStyle/>
          <a:p>
            <a:pPr indent="0" marL="0">
              <a:buNone/>
            </a:pPr>
            <a:r>
              <a:rPr lang="en-US" sz="1300" dirty="0">
                <a:solidFill>
                  <a:srgbClr val="1F2A37"/>
                </a:solidFill>
              </a:rPr>
              <a:t>15 to 30 minutes. Questions on a notebook are taken with that notebook open.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AI applications for research and data</dc:title>
  <dc:subject>PptxGenJS Presentation</dc:subject>
  <dc:creator>PptxGenJS</dc:creator>
  <cp:lastModifiedBy>PptxGenJS</cp:lastModifiedBy>
  <cp:revision>1</cp:revision>
  <dcterms:created xsi:type="dcterms:W3CDTF">2026-10-13T23:32:15Z</dcterms:created>
  <dcterms:modified xsi:type="dcterms:W3CDTF">2026-10-13T23:32:15Z</dcterms:modified>
</cp:coreProperties>
</file>